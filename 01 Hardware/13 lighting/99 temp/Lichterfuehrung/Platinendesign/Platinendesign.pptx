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1" r:id="rId5"/>
    <p:sldId id="264" r:id="rId6"/>
    <p:sldId id="265" r:id="rId7"/>
    <p:sldId id="266" r:id="rId8"/>
    <p:sldId id="267" r:id="rId9"/>
    <p:sldId id="262" r:id="rId10"/>
    <p:sldId id="268" r:id="rId11"/>
    <p:sldId id="269" r:id="rId12"/>
    <p:sldId id="260" r:id="rId13"/>
    <p:sldId id="271" r:id="rId14"/>
    <p:sldId id="263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3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ah-jena.de/" TargetMode="External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4AC1D1-89EA-0388-98DA-276E9C74E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36D7388-DC90-4449-32CB-1F3CB405D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D0F092-F46C-9D59-F443-B7F4F1C1C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CFE1-B307-47B1-9905-0DE5EDED2149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2875BD-7D6A-31DC-687F-E9BFDDE94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DE44FD-EC8B-12D4-3136-3FC8CCE4F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D7DBE-F745-4F34-9C4B-42BA4BEA83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2248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3D23BD-8CB5-92AF-8F75-9C31FDD11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0DC8DB-4378-C4AF-4B69-8C5C0E91A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13CE8D-2286-19F4-D980-0FB1AF398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CFE1-B307-47B1-9905-0DE5EDED2149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993350-1513-FD85-F717-1C3B4D8D9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B1CA15-82A7-8119-DA4E-1EA7977EC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D7DBE-F745-4F34-9C4B-42BA4BEA83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1259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67131F-E443-12A1-C913-A40295E58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01E9ECF-4400-1654-4FA9-8D3A2DF47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98E487-880A-CF32-4466-FB7BCFE77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CFE1-B307-47B1-9905-0DE5EDED2149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DC4011-DD38-46A2-5266-26F4B5EF7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AEEFF2-57ED-8F3F-8961-DD674CB6C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D7DBE-F745-4F34-9C4B-42BA4BEA83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1911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2712EA-D1B3-E6A3-0C5C-A8686A63D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9F2EFD-21F5-0A2B-B308-C3C7E26513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496296F-9F5E-F22F-7099-BBB98D7892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46C1561-810F-6D55-7206-0E4724B2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CFE1-B307-47B1-9905-0DE5EDED2149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CB6DA5-6A07-CDAD-34AD-1DB751421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F12ECF-3867-91AC-BBE6-42798728D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D7DBE-F745-4F34-9C4B-42BA4BEA83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2106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34E4DF-75DB-87BA-AFD9-671668C1A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A9D139-1CED-6BAC-56FB-07EFF56F4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CF247AB-16C7-2769-D758-FE7D6DB33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05E20E9-A122-D4AE-D815-CC8F71549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6E1340C-A803-FFCD-D238-76E3D2F1C0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BF6CD1D-EBD4-4FD0-87F8-42D0CD3B4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CFE1-B307-47B1-9905-0DE5EDED2149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F13A6D-EDE7-D879-7537-BBD22D93D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7257B59-DA1A-F454-2EAB-D4D07684D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D7DBE-F745-4F34-9C4B-42BA4BEA83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4954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4726E3-CB6E-A021-75AA-4407FE29B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63D2A9-FD1C-6E35-D283-B04B5A11F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CFE1-B307-47B1-9905-0DE5EDED2149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105F360-D070-E88F-4609-76BE00999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0C15E9-635F-A023-27F5-D195ED0FA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D7DBE-F745-4F34-9C4B-42BA4BEA83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4039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E0296CD-266C-590B-7623-5764691C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CFE1-B307-47B1-9905-0DE5EDED2149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9523B16-0E5F-60CB-2A78-36547446A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941FFF0-D42F-0EAF-1FE1-FD3CFF36B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D7DBE-F745-4F34-9C4B-42BA4BEA83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655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F1FD54-653E-4DEF-266F-85333E578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E470C-0F8E-B23D-9ABB-90213D808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ACE9B7F-887D-C546-9898-F7406C6F2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EC9AA0F-0221-5CD0-E2F8-5FA201E07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CFE1-B307-47B1-9905-0DE5EDED2149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7AE94A3-5032-3EF9-5AB0-37EDD136E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406D117-7078-865F-33E2-007A11D18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D7DBE-F745-4F34-9C4B-42BA4BEA83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8091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D35248-7396-B802-23C1-4381676C6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DBC1C06-DD7F-AED6-F8FD-DD50B3C5E0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279184-B6B2-5CF3-007E-0BC065521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BB4624-B03F-58A6-09F9-B31E03F7B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CFE1-B307-47B1-9905-0DE5EDED2149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9596940-5CF6-F56D-1F89-1C5ED72FF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7D3D26-2A0B-7D92-031A-BE7F1ADDB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D7DBE-F745-4F34-9C4B-42BA4BEA83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7652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A77161-96A5-5A7F-EE60-35BA1757B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4B91D34-1BFF-89F0-AFDB-DF0F2CBCC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541853-E38D-20EF-5FE2-6B80367BD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CFE1-B307-47B1-9905-0DE5EDED2149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41062E-751A-0D80-E7CB-589DE0CF0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2F96A1-9FAD-D230-F05A-2552FB3A0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D7DBE-F745-4F34-9C4B-42BA4BEA83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6097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B94AF35-9175-7CC8-09CD-B85F307FEA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78ABB9B-3B58-9EAE-9771-0A732BD8D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317F1C-362F-64DA-31AA-F48CCAB77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CFE1-B307-47B1-9905-0DE5EDED2149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08C99A-939F-CDF0-45C4-A547AD3E4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96E109-4E62-A751-AEC4-02B278B95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D7DBE-F745-4F34-9C4B-42BA4BEA83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948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36737BBC-F761-864B-B6A2-04BA246F9742}"/>
              </a:ext>
            </a:extLst>
          </p:cNvPr>
          <p:cNvSpPr/>
          <p:nvPr/>
        </p:nvSpPr>
        <p:spPr>
          <a:xfrm>
            <a:off x="9594746" y="5885439"/>
            <a:ext cx="849415" cy="650272"/>
          </a:xfrm>
          <a:prstGeom prst="rect">
            <a:avLst/>
          </a:prstGeom>
          <a:solidFill>
            <a:srgbClr val="A719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3485516-570C-7F4C-B9AF-6F9B7B4653E1}"/>
              </a:ext>
            </a:extLst>
          </p:cNvPr>
          <p:cNvSpPr/>
          <p:nvPr/>
        </p:nvSpPr>
        <p:spPr>
          <a:xfrm>
            <a:off x="1" y="6351939"/>
            <a:ext cx="9827664" cy="506062"/>
          </a:xfrm>
          <a:prstGeom prst="rect">
            <a:avLst/>
          </a:prstGeom>
          <a:solidFill>
            <a:srgbClr val="3B4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B7EEB40-F39C-DB47-869C-DA3B5A1E58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 rot="10800000">
            <a:off x="0" y="-1"/>
            <a:ext cx="2166867" cy="3735978"/>
          </a:xfrm>
          <a:prstGeom prst="rect">
            <a:avLst/>
          </a:prstGeom>
        </p:spPr>
      </p:pic>
      <p:sp>
        <p:nvSpPr>
          <p:cNvPr id="10" name="Dreieck 9">
            <a:extLst>
              <a:ext uri="{FF2B5EF4-FFF2-40B4-BE49-F238E27FC236}">
                <a16:creationId xmlns:a16="http://schemas.microsoft.com/office/drawing/2014/main" id="{50B94D71-C932-5D41-B9B5-DC5CC3D3523F}"/>
              </a:ext>
            </a:extLst>
          </p:cNvPr>
          <p:cNvSpPr/>
          <p:nvPr/>
        </p:nvSpPr>
        <p:spPr>
          <a:xfrm>
            <a:off x="9016368" y="5885439"/>
            <a:ext cx="1156759" cy="972562"/>
          </a:xfrm>
          <a:prstGeom prst="triangle">
            <a:avLst/>
          </a:prstGeom>
          <a:solidFill>
            <a:srgbClr val="3B4A5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04DF651-6066-514F-BBCF-33C7879364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9583169" y="2360023"/>
            <a:ext cx="2608830" cy="4497978"/>
          </a:xfrm>
          <a:prstGeom prst="rect">
            <a:avLst/>
          </a:prstGeom>
        </p:spPr>
      </p:pic>
      <p:sp>
        <p:nvSpPr>
          <p:cNvPr id="12" name="Textfeld 11">
            <a:hlinkClick r:id="rId3"/>
            <a:extLst>
              <a:ext uri="{FF2B5EF4-FFF2-40B4-BE49-F238E27FC236}">
                <a16:creationId xmlns:a16="http://schemas.microsoft.com/office/drawing/2014/main" id="{A7157046-4201-7547-8F25-3B77F7B1EC01}"/>
              </a:ext>
            </a:extLst>
          </p:cNvPr>
          <p:cNvSpPr txBox="1"/>
          <p:nvPr/>
        </p:nvSpPr>
        <p:spPr>
          <a:xfrm>
            <a:off x="10110081" y="6393306"/>
            <a:ext cx="1976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i="0" dirty="0" err="1">
                <a:solidFill>
                  <a:schemeClr val="bg1"/>
                </a:solidFill>
                <a:latin typeface="Arial Narrow" panose="020B0604020202020204" pitchFamily="34" charset="0"/>
                <a:ea typeface="Roboto Condensed" panose="02000000000000000000" pitchFamily="2" charset="0"/>
                <a:cs typeface="Arial Narrow" panose="020B0604020202020204" pitchFamily="34" charset="0"/>
              </a:rPr>
              <a:t>www.eah-jena.de</a:t>
            </a:r>
            <a:endParaRPr lang="de-DE" sz="2000" b="1" i="0" dirty="0">
              <a:solidFill>
                <a:schemeClr val="bg1"/>
              </a:solidFill>
              <a:latin typeface="Arial Narrow" panose="020B0604020202020204" pitchFamily="34" charset="0"/>
              <a:ea typeface="Roboto Condensed" panose="02000000000000000000" pitchFamily="2" charset="0"/>
              <a:cs typeface="Arial Narrow" panose="020B0604020202020204" pitchFamily="34" charset="0"/>
            </a:endParaRP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0CBA3C20-CF89-CE42-8A23-090261DC78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5413" y="6491893"/>
            <a:ext cx="1263650" cy="269875"/>
          </a:xfrm>
        </p:spPr>
        <p:txBody>
          <a:bodyPr lIns="0">
            <a:normAutofit/>
          </a:bodyPr>
          <a:lstStyle>
            <a:lvl1pPr marL="0" indent="0" algn="l">
              <a:buNone/>
              <a:defRPr sz="1200" b="0" i="0">
                <a:solidFill>
                  <a:schemeClr val="bg1"/>
                </a:solidFill>
                <a:latin typeface="Arial Narrow" panose="020B0604020202020204" pitchFamily="34" charset="0"/>
                <a:ea typeface="Roboto Condensed" panose="02000000000000000000" pitchFamily="2" charset="0"/>
                <a:cs typeface="Arial Narrow" panose="020B0604020202020204" pitchFamily="34" charset="0"/>
              </a:defRPr>
            </a:lvl1pPr>
          </a:lstStyle>
          <a:p>
            <a:fld id="{305317CD-ACA2-4EF3-901A-EED723732733}" type="datetime4">
              <a:rPr lang="de-DE" smtClean="0"/>
              <a:t>4. Februar 2022</a:t>
            </a:fld>
            <a:endParaRPr lang="de-DE" dirty="0"/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CDE2E6BB-D094-FF41-A519-F37BF6FEE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4000" y="4306888"/>
            <a:ext cx="8920163" cy="1270000"/>
          </a:xfrm>
        </p:spPr>
        <p:txBody>
          <a:bodyPr lIns="0">
            <a:noAutofit/>
          </a:bodyPr>
          <a:lstStyle>
            <a:lvl1pPr marL="0" indent="0">
              <a:buNone/>
              <a:defRPr sz="2400" b="0" i="0">
                <a:latin typeface="Arial Narrow" panose="020B0604020202020204" pitchFamily="34" charset="0"/>
                <a:ea typeface="Roboto Condensed Light" panose="02000000000000000000" pitchFamily="2" charset="0"/>
                <a:cs typeface="Arial Narrow" panose="020B0604020202020204" pitchFamily="34" charset="0"/>
              </a:defRPr>
            </a:lvl1pPr>
          </a:lstStyle>
          <a:p>
            <a:r>
              <a:rPr lang="de-DE" dirty="0"/>
              <a:t>Hier steht das Unterthema der Präsentation.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4AAE47E9-0C2E-384F-A6B6-2624D0250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0022" y="315730"/>
            <a:ext cx="6088817" cy="1363168"/>
          </a:xfrm>
          <a:prstGeom prst="rect">
            <a:avLst/>
          </a:prstGeom>
        </p:spPr>
      </p:pic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A6C05AF0-2BB0-6544-9026-C611AFE7A6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77975" y="6491893"/>
            <a:ext cx="7726363" cy="269875"/>
          </a:xfrm>
        </p:spPr>
        <p:txBody>
          <a:bodyPr l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rial Narrow" panose="020B0604020202020204" pitchFamily="34" charset="0"/>
                <a:ea typeface="Roboto Condensed" panose="02000000000000000000" pitchFamily="2" charset="0"/>
                <a:cs typeface="Arial Narrow" panose="020B0604020202020204" pitchFamily="34" charset="0"/>
              </a:defRPr>
            </a:lvl1pPr>
          </a:lstStyle>
          <a:p>
            <a:r>
              <a:rPr lang="de-DE" dirty="0"/>
              <a:t>Prof. Dr. Bernd Mustermann | Fachbereich Elektrotechnik und Informationstechnik</a:t>
            </a:r>
          </a:p>
        </p:txBody>
      </p:sp>
      <p:sp>
        <p:nvSpPr>
          <p:cNvPr id="13" name="Titelplatzhalter 1">
            <a:extLst>
              <a:ext uri="{FF2B5EF4-FFF2-40B4-BE49-F238E27FC236}">
                <a16:creationId xmlns:a16="http://schemas.microsoft.com/office/drawing/2014/main" id="{8DD7E172-FC7A-4E4F-8412-326E53B0E5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3999" y="2648606"/>
            <a:ext cx="8920163" cy="1470114"/>
          </a:xfrm>
          <a:prstGeom prst="rect">
            <a:avLst/>
          </a:prstGeom>
        </p:spPr>
        <p:txBody>
          <a:bodyPr vert="horz" lIns="0" tIns="45720" rIns="91440" bIns="45720" rtlCol="0" anchor="b" anchorCtr="0">
            <a:noAutofit/>
          </a:bodyPr>
          <a:lstStyle>
            <a:lvl1pPr>
              <a:defRPr sz="3600"/>
            </a:lvl1pPr>
          </a:lstStyle>
          <a:p>
            <a:r>
              <a:rPr lang="de-DE" dirty="0"/>
              <a:t>Hier steht das Thema der Präsentation</a:t>
            </a:r>
          </a:p>
        </p:txBody>
      </p:sp>
    </p:spTree>
    <p:extLst>
      <p:ext uri="{BB962C8B-B14F-4D97-AF65-F5344CB8AC3E}">
        <p14:creationId xmlns:p14="http://schemas.microsoft.com/office/powerpoint/2010/main" val="37176582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DF86CA-FC44-DA46-BF88-D343723C3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 Narrow" panose="020B0604020202020204" pitchFamily="34" charset="0"/>
                <a:ea typeface="Roboto Condensed Light" panose="02000000000000000000" pitchFamily="2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47AB54F-F1B5-D145-AD65-85672EA6B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7" name="Datumsplatzhalter 16">
            <a:extLst>
              <a:ext uri="{FF2B5EF4-FFF2-40B4-BE49-F238E27FC236}">
                <a16:creationId xmlns:a16="http://schemas.microsoft.com/office/drawing/2014/main" id="{9D86D283-9C2B-0D4E-9412-8C2F6D7A4E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8535" y="6568323"/>
            <a:ext cx="1396900" cy="28967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9D90CFE1-B307-47B1-9905-0DE5EDED2149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0DFBC4BB-3F37-AA4E-94AB-E3E060683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86099" y="6568323"/>
            <a:ext cx="5757168" cy="28967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37066F53-FCD7-0B44-AF7F-E661F696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58AD7DBE-F745-4F34-9C4B-42BA4BEA83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87092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717B9DC-8B66-1A4E-A428-8D30F1D43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C6CB390-051A-394C-B1CF-7328F0D34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4711AF7-6748-A040-95EC-A6E78840AB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6FB1E-AB50-E94B-BDE7-32C65FB8EB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8D75C78D-1973-DC48-9E02-27F170071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CFE1-B307-47B1-9905-0DE5EDED2149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9EFC3A04-980D-B94E-AB3F-4B3B01D9F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DC572B2C-C69F-2748-A6A4-8B2A38567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D7DBE-F745-4F34-9C4B-42BA4BEA836B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606BE07-72CE-C549-85B2-72CF559DA2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9788" y="381753"/>
            <a:ext cx="10515600" cy="920750"/>
          </a:xfrm>
        </p:spPr>
        <p:txBody>
          <a:bodyPr>
            <a:noAutofit/>
          </a:bodyPr>
          <a:lstStyle>
            <a:lvl1pPr marL="0" indent="0">
              <a:buNone/>
              <a:defRPr sz="3200" b="1" i="0">
                <a:latin typeface="Arial Narrow" panose="020B0604020202020204" pitchFamily="34" charset="0"/>
                <a:ea typeface="Roboto Condensed" panose="02000000000000000000" pitchFamily="2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0788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hyperlink" Target="http://www.eah-jena.de/" TargetMode="Externa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D115527-FC06-4687-5C72-AA4F3C3BF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AFAD13-98D4-51EB-D29E-6C250C73F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10C22B-F654-9F13-5D22-1F637AFC59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90CFE1-B307-47B1-9905-0DE5EDED2149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D5E1D2-42D6-B4D2-40B0-9C0004DF11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FF18BF-E77B-45BE-709E-0FC2DAC72F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AD7DBE-F745-4F34-9C4B-42BA4BEA836B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2DE2D5A-BF52-1049-3FB8-DF960EDE31D0}"/>
              </a:ext>
            </a:extLst>
          </p:cNvPr>
          <p:cNvSpPr/>
          <p:nvPr/>
        </p:nvSpPr>
        <p:spPr>
          <a:xfrm>
            <a:off x="-1" y="6568323"/>
            <a:ext cx="12185156" cy="289677"/>
          </a:xfrm>
          <a:prstGeom prst="rect">
            <a:avLst/>
          </a:prstGeom>
          <a:solidFill>
            <a:srgbClr val="3B4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AA0BD4D-E067-0ACF-2607-1299AE2A5517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r="50000"/>
          <a:stretch/>
        </p:blipFill>
        <p:spPr>
          <a:xfrm rot="10800000">
            <a:off x="0" y="-1"/>
            <a:ext cx="647758" cy="1116825"/>
          </a:xfrm>
          <a:prstGeom prst="rect">
            <a:avLst/>
          </a:prstGeom>
        </p:spPr>
      </p:pic>
      <p:cxnSp>
        <p:nvCxnSpPr>
          <p:cNvPr id="9" name="Gerade Verbindung 15">
            <a:extLst>
              <a:ext uri="{FF2B5EF4-FFF2-40B4-BE49-F238E27FC236}">
                <a16:creationId xmlns:a16="http://schemas.microsoft.com/office/drawing/2014/main" id="{F25CCE68-F0A9-99B0-1E33-AEEFEA4D40FD}"/>
              </a:ext>
            </a:extLst>
          </p:cNvPr>
          <p:cNvCxnSpPr/>
          <p:nvPr/>
        </p:nvCxnSpPr>
        <p:spPr>
          <a:xfrm>
            <a:off x="1689197" y="6568323"/>
            <a:ext cx="0" cy="28967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16">
            <a:extLst>
              <a:ext uri="{FF2B5EF4-FFF2-40B4-BE49-F238E27FC236}">
                <a16:creationId xmlns:a16="http://schemas.microsoft.com/office/drawing/2014/main" id="{26931112-E81B-9C6B-D72E-93243D9E1F8B}"/>
              </a:ext>
            </a:extLst>
          </p:cNvPr>
          <p:cNvCxnSpPr/>
          <p:nvPr/>
        </p:nvCxnSpPr>
        <p:spPr>
          <a:xfrm>
            <a:off x="10428348" y="6568323"/>
            <a:ext cx="0" cy="28967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hlinkClick r:id="rId17"/>
            <a:extLst>
              <a:ext uri="{FF2B5EF4-FFF2-40B4-BE49-F238E27FC236}">
                <a16:creationId xmlns:a16="http://schemas.microsoft.com/office/drawing/2014/main" id="{0CE7B3AA-200B-719A-3E9E-6268D9636733}"/>
              </a:ext>
            </a:extLst>
          </p:cNvPr>
          <p:cNvSpPr txBox="1"/>
          <p:nvPr/>
        </p:nvSpPr>
        <p:spPr>
          <a:xfrm>
            <a:off x="8459942" y="6568322"/>
            <a:ext cx="1793899" cy="276999"/>
          </a:xfrm>
          <a:prstGeom prst="rect">
            <a:avLst/>
          </a:prstGeom>
          <a:noFill/>
        </p:spPr>
        <p:txBody>
          <a:bodyPr wrap="square" lIns="90000" rIns="0" rtlCol="0">
            <a:spAutoFit/>
          </a:bodyPr>
          <a:lstStyle/>
          <a:p>
            <a:pPr algn="r"/>
            <a:r>
              <a:rPr lang="de-DE" sz="1200" b="1" i="0" dirty="0" err="1">
                <a:solidFill>
                  <a:schemeClr val="bg1"/>
                </a:solidFill>
                <a:latin typeface="Arial Narrow" panose="020B0604020202020204" pitchFamily="34" charset="0"/>
                <a:ea typeface="Roboto Condensed" panose="02000000000000000000" pitchFamily="2" charset="0"/>
                <a:cs typeface="Arial Narrow" panose="020B0604020202020204" pitchFamily="34" charset="0"/>
              </a:rPr>
              <a:t>www.eah-jena.de</a:t>
            </a:r>
            <a:endParaRPr lang="de-DE" sz="1200" b="1" i="0" dirty="0">
              <a:solidFill>
                <a:schemeClr val="bg1"/>
              </a:solidFill>
              <a:latin typeface="Arial Narrow" panose="020B0604020202020204" pitchFamily="34" charset="0"/>
              <a:ea typeface="Roboto Condensed" panose="02000000000000000000" pitchFamily="2" charset="0"/>
              <a:cs typeface="Arial Narrow" panose="020B0604020202020204" pitchFamily="34" charset="0"/>
            </a:endParaRPr>
          </a:p>
        </p:txBody>
      </p:sp>
      <p:sp>
        <p:nvSpPr>
          <p:cNvPr id="12" name="Dreieck 19">
            <a:extLst>
              <a:ext uri="{FF2B5EF4-FFF2-40B4-BE49-F238E27FC236}">
                <a16:creationId xmlns:a16="http://schemas.microsoft.com/office/drawing/2014/main" id="{FBF94400-9482-49B7-0883-915A2DA2642A}"/>
              </a:ext>
            </a:extLst>
          </p:cNvPr>
          <p:cNvSpPr/>
          <p:nvPr/>
        </p:nvSpPr>
        <p:spPr>
          <a:xfrm rot="10800000">
            <a:off x="10914531" y="6568322"/>
            <a:ext cx="349016" cy="289678"/>
          </a:xfrm>
          <a:prstGeom prst="triangle">
            <a:avLst/>
          </a:prstGeom>
          <a:solidFill>
            <a:srgbClr val="A719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CB0FB164-E01F-DE91-BE1E-11222F49DF16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r="50000"/>
          <a:stretch/>
        </p:blipFill>
        <p:spPr>
          <a:xfrm>
            <a:off x="11052349" y="4893086"/>
            <a:ext cx="1139651" cy="196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486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EA838E4-8AC9-A99F-7708-73D0EEDCE6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28. März 2025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6FDA11-7BAF-5E11-F568-90E1614CB1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Des USV-Forschungsbootes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0298E0A-540E-F5B3-CDD2-2F0021748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Platinendesign</a:t>
            </a:r>
            <a:r>
              <a:rPr lang="de-DE" dirty="0"/>
              <a:t> der Lichterführung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0A9287D-CE11-08F9-3706-5FCF3B8EB2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77975" y="6491893"/>
            <a:ext cx="7726363" cy="269875"/>
          </a:xfrm>
        </p:spPr>
        <p:txBody>
          <a:bodyPr/>
          <a:lstStyle/>
          <a:p>
            <a:r>
              <a:rPr lang="de-DE" dirty="0"/>
              <a:t>Lukas Schröder | </a:t>
            </a:r>
            <a:r>
              <a:rPr lang="de-DE" dirty="0" err="1"/>
              <a:t>Platinendesign</a:t>
            </a:r>
            <a:r>
              <a:rPr lang="de-DE" dirty="0"/>
              <a:t> | Fachbereich Elektrotechnik und Informationstechnik</a:t>
            </a:r>
          </a:p>
        </p:txBody>
      </p:sp>
    </p:spTree>
    <p:extLst>
      <p:ext uri="{BB962C8B-B14F-4D97-AF65-F5344CB8AC3E}">
        <p14:creationId xmlns:p14="http://schemas.microsoft.com/office/powerpoint/2010/main" val="1028485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035504-0864-F9C3-6367-40D47A77F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Allgemein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9C01E6-BF9F-7D57-C4A1-E6F861385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Erkennung des Zustandes und der Richtung des USV-Forschungsbootes bei Nacht</a:t>
            </a:r>
          </a:p>
          <a:p>
            <a:r>
              <a:rPr lang="de-DE" sz="2400" dirty="0">
                <a:sym typeface="Wingdings" panose="05000000000000000000" pitchFamily="2" charset="2"/>
              </a:rPr>
              <a:t>Erkennung von Ausfall einer LED</a:t>
            </a:r>
          </a:p>
          <a:p>
            <a:r>
              <a:rPr lang="de-DE" sz="2400" dirty="0">
                <a:sym typeface="Wingdings" panose="05000000000000000000" pitchFamily="2" charset="2"/>
              </a:rPr>
              <a:t>Automatische Einschaltung bei </a:t>
            </a:r>
          </a:p>
          <a:p>
            <a:pPr marL="0" indent="0">
              <a:buNone/>
            </a:pPr>
            <a:r>
              <a:rPr lang="de-DE" sz="2400" dirty="0">
                <a:sym typeface="Wingdings" panose="05000000000000000000" pitchFamily="2" charset="2"/>
              </a:rPr>
              <a:t>   Nacht</a:t>
            </a:r>
          </a:p>
          <a:p>
            <a:r>
              <a:rPr lang="de-DE" sz="2400" dirty="0">
                <a:sym typeface="Wingdings" panose="05000000000000000000" pitchFamily="2" charset="2"/>
              </a:rPr>
              <a:t>Signalisierung von Fehler-</a:t>
            </a:r>
          </a:p>
          <a:p>
            <a:pPr marL="0" indent="0">
              <a:buNone/>
            </a:pPr>
            <a:r>
              <a:rPr lang="de-DE" sz="2400" dirty="0">
                <a:sym typeface="Wingdings" panose="05000000000000000000" pitchFamily="2" charset="2"/>
              </a:rPr>
              <a:t>   zuständen (z.B. Motorschaden)</a:t>
            </a:r>
            <a:endParaRPr lang="de-DE" sz="24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ED6E301-D719-219A-C4A5-1EA9EDFDEA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22" r="11443"/>
          <a:stretch/>
        </p:blipFill>
        <p:spPr>
          <a:xfrm>
            <a:off x="6096000" y="3199600"/>
            <a:ext cx="5257800" cy="275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14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5AC3DDB-E22D-0F2C-BB84-9216909ED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4F8779-8221-CF05-78A8-CF2F9B332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Hauptplatine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841A0D-C0FD-CB7C-6093-BD879952F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400" dirty="0"/>
              <a:t>Mess- und Steuerelektronik der LED-Schaltkreise</a:t>
            </a:r>
          </a:p>
          <a:p>
            <a:r>
              <a:rPr lang="de-DE" sz="2400" dirty="0"/>
              <a:t>Kommunikation mit Slave-Modul</a:t>
            </a:r>
          </a:p>
          <a:p>
            <a:r>
              <a:rPr lang="de-DE" sz="2400" dirty="0"/>
              <a:t>Programmierschnittstelle für RP2350</a:t>
            </a:r>
          </a:p>
          <a:p>
            <a:r>
              <a:rPr lang="de-DE" sz="2400" dirty="0"/>
              <a:t>Positionierung der LEDs zum Einhalten des exakten Abstrahlwinkels</a:t>
            </a:r>
          </a:p>
          <a:p>
            <a:r>
              <a:rPr lang="de-DE" sz="2400" dirty="0"/>
              <a:t>Befestigung am Gehäuse</a:t>
            </a:r>
          </a:p>
        </p:txBody>
      </p:sp>
    </p:spTree>
    <p:extLst>
      <p:ext uri="{BB962C8B-B14F-4D97-AF65-F5344CB8AC3E}">
        <p14:creationId xmlns:p14="http://schemas.microsoft.com/office/powerpoint/2010/main" val="67019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EB0C4-0D26-2010-3529-EC4E88603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614DFD-B39F-E377-37A5-483059DF3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 dirty="0"/>
              <a:t>Hauptplatine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BFB558-DD71-EBCC-D3E0-560ED8A0D2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de-DE" dirty="0"/>
              <a:t>Oberseite:</a:t>
            </a:r>
          </a:p>
          <a:p>
            <a:pPr lvl="1"/>
            <a:r>
              <a:rPr lang="de-DE" dirty="0"/>
              <a:t>RP2350</a:t>
            </a:r>
          </a:p>
          <a:p>
            <a:pPr lvl="1"/>
            <a:r>
              <a:rPr lang="de-DE" dirty="0"/>
              <a:t>Programmierschnittstelle</a:t>
            </a:r>
          </a:p>
          <a:p>
            <a:pPr lvl="1"/>
            <a:r>
              <a:rPr lang="de-DE" dirty="0"/>
              <a:t>Messelektronik der </a:t>
            </a:r>
            <a:r>
              <a:rPr lang="de-DE" dirty="0" err="1"/>
              <a:t>Photodioden</a:t>
            </a:r>
            <a:endParaRPr lang="de-DE" dirty="0"/>
          </a:p>
          <a:p>
            <a:pPr lvl="1"/>
            <a:r>
              <a:rPr lang="de-DE" dirty="0"/>
              <a:t>Verbindungen zu weißen LED-Platinen</a:t>
            </a:r>
          </a:p>
          <a:p>
            <a:pPr lvl="1"/>
            <a:r>
              <a:rPr lang="de-DE" dirty="0"/>
              <a:t>Kantenlänge: 40mm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2243FF5-4EF8-60AA-1F25-CB7CD55F0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-26" r="-4" b="112"/>
          <a:stretch/>
        </p:blipFill>
        <p:spPr bwMode="auto">
          <a:xfrm>
            <a:off x="6172200" y="1200150"/>
            <a:ext cx="4674870" cy="51045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9071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FB96C-22DD-7922-7C82-82B4FCB74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AE5E7D-8F8E-D060-A8AE-7801B2D6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 dirty="0"/>
              <a:t>Hauptplatine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031476-EACB-0BB2-1394-78F65B664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de-DE" dirty="0"/>
              <a:t>Oberseite:</a:t>
            </a:r>
          </a:p>
          <a:p>
            <a:pPr lvl="1"/>
            <a:r>
              <a:rPr lang="de-DE" dirty="0"/>
              <a:t>RP2350</a:t>
            </a:r>
          </a:p>
          <a:p>
            <a:pPr lvl="1"/>
            <a:r>
              <a:rPr lang="de-DE" dirty="0"/>
              <a:t>Programmierschnittstelle</a:t>
            </a:r>
          </a:p>
          <a:p>
            <a:pPr lvl="1"/>
            <a:r>
              <a:rPr lang="de-DE" dirty="0"/>
              <a:t>Messelektronik der </a:t>
            </a:r>
            <a:r>
              <a:rPr lang="de-DE" dirty="0" err="1"/>
              <a:t>Photodioden</a:t>
            </a:r>
            <a:endParaRPr lang="de-DE" dirty="0"/>
          </a:p>
          <a:p>
            <a:pPr lvl="1"/>
            <a:r>
              <a:rPr lang="de-DE" dirty="0"/>
              <a:t>Verbindungen zu weißen LED-Platinen</a:t>
            </a:r>
          </a:p>
          <a:p>
            <a:pPr lvl="1"/>
            <a:r>
              <a:rPr lang="de-DE" dirty="0"/>
              <a:t>Kantenlänge: 40mm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1CB4363-56EE-86C0-9ED7-8AC98705D1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274" y="593889"/>
            <a:ext cx="5573845" cy="55830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6675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09FDB-21F8-361F-FC21-CD909D1C6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A65CD7-9C75-461D-8179-7152136EC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 dirty="0"/>
              <a:t>Hauptplatine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89EF1D-F839-581D-474B-8D310FF25D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de-DE" dirty="0"/>
              <a:t>Oberseite:</a:t>
            </a:r>
          </a:p>
          <a:p>
            <a:pPr lvl="1"/>
            <a:r>
              <a:rPr lang="de-DE" dirty="0"/>
              <a:t>RP2350</a:t>
            </a:r>
          </a:p>
          <a:p>
            <a:pPr lvl="1"/>
            <a:r>
              <a:rPr lang="de-DE" dirty="0"/>
              <a:t>Programmierschnittstelle</a:t>
            </a:r>
          </a:p>
          <a:p>
            <a:pPr lvl="1"/>
            <a:r>
              <a:rPr lang="de-DE" dirty="0"/>
              <a:t>Messelektronik der </a:t>
            </a:r>
            <a:r>
              <a:rPr lang="de-DE" dirty="0" err="1"/>
              <a:t>Photodioden</a:t>
            </a:r>
            <a:endParaRPr lang="de-DE" dirty="0"/>
          </a:p>
          <a:p>
            <a:pPr lvl="1"/>
            <a:r>
              <a:rPr lang="de-DE" dirty="0"/>
              <a:t>Verbindungen zu weißen LED-Platinen</a:t>
            </a:r>
          </a:p>
          <a:p>
            <a:pPr lvl="1"/>
            <a:r>
              <a:rPr lang="de-DE" dirty="0"/>
              <a:t>Kantenlänge: 40mm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AA6419A-1D42-3FA9-E297-6152530942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-26" r="-4" b="112"/>
          <a:stretch/>
        </p:blipFill>
        <p:spPr bwMode="auto">
          <a:xfrm>
            <a:off x="6172200" y="1200150"/>
            <a:ext cx="4674870" cy="51045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0218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5322C-6608-7D3C-77CA-45A3AE46A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961729-B5FE-1F8E-4DEF-54DA484A2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 dirty="0"/>
              <a:t>Hauptplatine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8D3270-8FD3-AF50-4466-D8311C0BA5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de-DE" dirty="0"/>
              <a:t>Oberseite:</a:t>
            </a:r>
          </a:p>
          <a:p>
            <a:pPr lvl="1"/>
            <a:r>
              <a:rPr lang="de-DE" dirty="0"/>
              <a:t>RP2350</a:t>
            </a:r>
          </a:p>
          <a:p>
            <a:pPr lvl="1"/>
            <a:r>
              <a:rPr lang="de-DE" dirty="0"/>
              <a:t>Programmierschnittstelle</a:t>
            </a:r>
          </a:p>
          <a:p>
            <a:pPr lvl="1"/>
            <a:r>
              <a:rPr lang="de-DE" dirty="0"/>
              <a:t>Messelektronik der </a:t>
            </a:r>
            <a:r>
              <a:rPr lang="de-DE" dirty="0" err="1"/>
              <a:t>Photodioden</a:t>
            </a:r>
            <a:endParaRPr lang="de-DE" dirty="0"/>
          </a:p>
          <a:p>
            <a:pPr lvl="1"/>
            <a:r>
              <a:rPr lang="de-DE" dirty="0"/>
              <a:t>Verbindungen zu weißen LED-Platinen</a:t>
            </a:r>
          </a:p>
          <a:p>
            <a:pPr lvl="1"/>
            <a:r>
              <a:rPr lang="de-DE" dirty="0"/>
              <a:t>Kantenlänge: 40mm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D4AED05-D802-49D0-8CB7-6446415D3B5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" t="1515" r="2699" b="2841"/>
          <a:stretch/>
        </p:blipFill>
        <p:spPr bwMode="auto">
          <a:xfrm>
            <a:off x="5901054" y="1705647"/>
            <a:ext cx="5986145" cy="344670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26029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5BBD0-D8E7-3C4B-EEF6-36DD3C03D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A79900-A9DD-8993-CAFA-2B2C4DD33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 dirty="0"/>
              <a:t>Hauptplatine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754EB8-A1D3-BC6F-1D63-F65A52E3D6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de-DE" dirty="0"/>
              <a:t>Oberseite:</a:t>
            </a:r>
          </a:p>
          <a:p>
            <a:pPr lvl="1"/>
            <a:r>
              <a:rPr lang="de-DE" dirty="0"/>
              <a:t>RP2350</a:t>
            </a:r>
          </a:p>
          <a:p>
            <a:pPr lvl="1"/>
            <a:r>
              <a:rPr lang="de-DE" dirty="0"/>
              <a:t>Programmierschnittstelle</a:t>
            </a:r>
          </a:p>
          <a:p>
            <a:pPr lvl="1"/>
            <a:r>
              <a:rPr lang="de-DE" dirty="0"/>
              <a:t>Messelektronik der </a:t>
            </a:r>
            <a:r>
              <a:rPr lang="de-DE" dirty="0" err="1"/>
              <a:t>Photodioden</a:t>
            </a:r>
            <a:endParaRPr lang="de-DE" dirty="0"/>
          </a:p>
          <a:p>
            <a:pPr lvl="1"/>
            <a:r>
              <a:rPr lang="de-DE" dirty="0"/>
              <a:t>Verbindungen zu weißen LED-Platinen</a:t>
            </a:r>
          </a:p>
          <a:p>
            <a:pPr lvl="1"/>
            <a:r>
              <a:rPr lang="de-DE" dirty="0"/>
              <a:t>Kantenlänge: 40mm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2C69573-2C90-E8F9-78EB-838EB95958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-26" r="-4" b="112"/>
          <a:stretch/>
        </p:blipFill>
        <p:spPr bwMode="auto">
          <a:xfrm>
            <a:off x="6172200" y="1200150"/>
            <a:ext cx="4674870" cy="51045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1909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A51AA-BDD1-972B-58F5-7B6EE9D14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BAD6E0B-3A8B-7F0E-622B-774F0A192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261" y="1200150"/>
            <a:ext cx="4650809" cy="510454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5AA5338-0E69-A3CB-F044-7C021BA89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 dirty="0"/>
              <a:t>Hauptplatine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A4681C-75BA-727C-832C-FDF003A587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de-DE" dirty="0"/>
              <a:t>Unterseite:</a:t>
            </a:r>
          </a:p>
          <a:p>
            <a:pPr lvl="1"/>
            <a:r>
              <a:rPr lang="de-DE" dirty="0"/>
              <a:t>MagI³C-LED-Treiber</a:t>
            </a:r>
          </a:p>
          <a:p>
            <a:pPr lvl="1"/>
            <a:r>
              <a:rPr lang="de-DE" dirty="0"/>
              <a:t>Kommunikationsschnittstelle zum Slave-Modul</a:t>
            </a:r>
          </a:p>
          <a:p>
            <a:pPr lvl="1"/>
            <a:r>
              <a:rPr lang="de-DE" dirty="0"/>
              <a:t>12V Spannungsversorgung</a:t>
            </a:r>
          </a:p>
          <a:p>
            <a:pPr lvl="1"/>
            <a:r>
              <a:rPr lang="de-DE" dirty="0"/>
              <a:t>Verbindungen zum grünen und roten Seitenlicht</a:t>
            </a: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95046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C1E40-AEE5-1F34-F487-893FD4286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760711-2ECC-D396-81D6-EE39BD8EC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 dirty="0"/>
              <a:t>Hauptplatine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CCC445-CEE1-C543-6ED7-12727C697C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de-DE" dirty="0"/>
              <a:t>Unterseite:</a:t>
            </a:r>
          </a:p>
          <a:p>
            <a:pPr lvl="1"/>
            <a:r>
              <a:rPr lang="de-DE" dirty="0"/>
              <a:t>MagI³C-LED-Treiber</a:t>
            </a:r>
          </a:p>
          <a:p>
            <a:pPr lvl="1"/>
            <a:r>
              <a:rPr lang="de-DE" dirty="0"/>
              <a:t>Kommunikationsschnittstelle zum Slave-Modul</a:t>
            </a:r>
          </a:p>
          <a:p>
            <a:pPr lvl="1"/>
            <a:r>
              <a:rPr lang="de-DE" dirty="0"/>
              <a:t>12V Spannungsversorgung</a:t>
            </a:r>
          </a:p>
          <a:p>
            <a:pPr lvl="1"/>
            <a:r>
              <a:rPr lang="de-DE" dirty="0"/>
              <a:t>Verbindungen zum grünen und roten Seitenlicht</a:t>
            </a:r>
          </a:p>
          <a:p>
            <a:pPr lvl="1"/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0C325FD-04D4-F9DD-B02A-AD7F28217E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6" t="3031" r="1546" b="2164"/>
          <a:stretch/>
        </p:blipFill>
        <p:spPr bwMode="auto">
          <a:xfrm>
            <a:off x="5862635" y="1925201"/>
            <a:ext cx="6009325" cy="300759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11257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33C2C-71A1-3E53-42EB-3DE462DF1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B24ABAF-5B19-ADEF-B352-974943B3D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261" y="1200150"/>
            <a:ext cx="4650809" cy="510454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4AF7A1B-AEBD-6528-D2E2-C74C190A2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 dirty="0"/>
              <a:t>Hauptplatine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37AD61-70F9-93B8-323E-51CF4AD9F4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de-DE" dirty="0"/>
              <a:t>Unterseite:</a:t>
            </a:r>
          </a:p>
          <a:p>
            <a:pPr lvl="1"/>
            <a:r>
              <a:rPr lang="de-DE" dirty="0"/>
              <a:t>MagI³C-LED-Treiber</a:t>
            </a:r>
          </a:p>
          <a:p>
            <a:pPr lvl="1"/>
            <a:r>
              <a:rPr lang="de-DE" dirty="0"/>
              <a:t>Kommunikationsschnittstelle zum Slave-Modul</a:t>
            </a:r>
          </a:p>
          <a:p>
            <a:pPr lvl="1"/>
            <a:r>
              <a:rPr lang="de-DE" dirty="0"/>
              <a:t>12V Spannungsversorgung</a:t>
            </a:r>
          </a:p>
          <a:p>
            <a:pPr lvl="1"/>
            <a:r>
              <a:rPr lang="de-DE" dirty="0"/>
              <a:t>Verbindungen zum grünen und roten Seitenlicht</a:t>
            </a: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6129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6BD7C-96F3-B380-08D9-0FFEE9A12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7EA753-7D73-AF43-D31D-0E350FD50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/>
              <a:t>LED-Platine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7AC0305-5DF3-4995-95CC-B086B313C5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n-US" dirty="0" err="1"/>
              <a:t>Vorderseite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LED</a:t>
            </a:r>
          </a:p>
          <a:p>
            <a:pPr lvl="1"/>
            <a:r>
              <a:rPr lang="en-US" dirty="0"/>
              <a:t>Photodiode</a:t>
            </a:r>
          </a:p>
          <a:p>
            <a:pPr lvl="1"/>
            <a:r>
              <a:rPr lang="en-US" dirty="0" err="1"/>
              <a:t>Kantenlänge</a:t>
            </a:r>
            <a:r>
              <a:rPr lang="en-US" dirty="0"/>
              <a:t>: 20mm * 40mm</a:t>
            </a:r>
          </a:p>
        </p:txBody>
      </p:sp>
      <p:pic>
        <p:nvPicPr>
          <p:cNvPr id="4" name="Inhaltsplatzhalter 3" descr="Ein Bild, das Schaltung, Elektronisches Bauteil, Elektronik, Elektrisches Bauelement enthält.&#10;&#10;KI-generierte Inhalte können fehlerhaft sein.">
            <a:extLst>
              <a:ext uri="{FF2B5EF4-FFF2-40B4-BE49-F238E27FC236}">
                <a16:creationId xmlns:a16="http://schemas.microsoft.com/office/drawing/2014/main" id="{050318F8-B2BC-20E7-4DBA-66D1A1E8C9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6200000">
            <a:off x="6587331" y="2875385"/>
            <a:ext cx="4351338" cy="22518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6450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E820A-7EC5-D9CA-BCAE-3254050EA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092C4B-E61F-C748-0EDC-661E3A9F3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/>
              <a:t>LED-Platine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1ADBFCE-3563-15E7-CBDE-92CA404A1E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n-US" dirty="0" err="1"/>
              <a:t>Vorderseite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LED</a:t>
            </a:r>
          </a:p>
          <a:p>
            <a:pPr lvl="1"/>
            <a:r>
              <a:rPr lang="en-US" dirty="0"/>
              <a:t>Photodiode</a:t>
            </a:r>
          </a:p>
          <a:p>
            <a:pPr lvl="1"/>
            <a:r>
              <a:rPr lang="en-US" dirty="0" err="1"/>
              <a:t>Kantenlänge</a:t>
            </a:r>
            <a:r>
              <a:rPr lang="en-US" dirty="0"/>
              <a:t>: 20mm * 40mm</a:t>
            </a:r>
          </a:p>
        </p:txBody>
      </p:sp>
      <p:pic>
        <p:nvPicPr>
          <p:cNvPr id="6" name="Grafik 5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02DA4154-75B0-690A-E66F-FC31895060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79" r="18709" b="5399"/>
          <a:stretch/>
        </p:blipFill>
        <p:spPr bwMode="auto">
          <a:xfrm>
            <a:off x="7338060" y="1805929"/>
            <a:ext cx="2971800" cy="341238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85454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8F3D5-4E96-59BA-38B2-823FFACAE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reenshot, Elektronik, Schaltung enthält.&#10;&#10;KI-generierte Inhalte können fehlerhaft sein.">
            <a:extLst>
              <a:ext uri="{FF2B5EF4-FFF2-40B4-BE49-F238E27FC236}">
                <a16:creationId xmlns:a16="http://schemas.microsoft.com/office/drawing/2014/main" id="{01FED4C9-7889-0119-F825-39EB0C554B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6590235" y="2872479"/>
            <a:ext cx="4345530" cy="225181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A1A4E09-4008-08D2-8840-8732608FA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/>
              <a:t>LED-Platine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BE35CA0-ABBF-0AA2-A040-D4FA640F6F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n-US" dirty="0" err="1"/>
              <a:t>Rückseite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4-Pol-Stecker</a:t>
            </a:r>
          </a:p>
          <a:p>
            <a:pPr lvl="1"/>
            <a:r>
              <a:rPr lang="en-US" dirty="0"/>
              <a:t>Platz für </a:t>
            </a:r>
            <a:r>
              <a:rPr lang="en-US" dirty="0" err="1"/>
              <a:t>optionalen</a:t>
            </a:r>
            <a:r>
              <a:rPr lang="en-US" dirty="0"/>
              <a:t> </a:t>
            </a:r>
            <a:r>
              <a:rPr lang="en-US" dirty="0" err="1"/>
              <a:t>Kühlkörper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861231"/>
      </p:ext>
    </p:extLst>
  </p:cSld>
  <p:clrMapOvr>
    <a:masterClrMapping/>
  </p:clrMapOvr>
</p:sld>
</file>

<file path=ppt/theme/theme1.xml><?xml version="1.0" encoding="utf-8"?>
<a:theme xmlns:a="http://schemas.openxmlformats.org/drawingml/2006/main" name="EAH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AH" id="{F418F0AD-7DD3-48D1-94B7-33B5C4375C68}" vid="{A92311FD-807D-4CE3-BC63-207E924E5E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EAH</Template>
  <TotalTime>0</TotalTime>
  <Words>222</Words>
  <Application>Microsoft Office PowerPoint</Application>
  <PresentationFormat>Breitbild</PresentationFormat>
  <Paragraphs>84</Paragraphs>
  <Slides>14</Slides>
  <Notes>0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Arial Narrow</vt:lpstr>
      <vt:lpstr>Wingdings</vt:lpstr>
      <vt:lpstr>EAH</vt:lpstr>
      <vt:lpstr>Platinendesign der Lichterführung</vt:lpstr>
      <vt:lpstr>Allgemein</vt:lpstr>
      <vt:lpstr>Hauptplatine</vt:lpstr>
      <vt:lpstr>Hauptplatine</vt:lpstr>
      <vt:lpstr>Hauptplatine</vt:lpstr>
      <vt:lpstr>Hauptplatine</vt:lpstr>
      <vt:lpstr>Hauptplatine</vt:lpstr>
      <vt:lpstr>Hauptplatine</vt:lpstr>
      <vt:lpstr>Hauptplatine</vt:lpstr>
      <vt:lpstr>Hauptplatine</vt:lpstr>
      <vt:lpstr>Hauptplatine</vt:lpstr>
      <vt:lpstr>LED-Platine</vt:lpstr>
      <vt:lpstr>LED-Platine</vt:lpstr>
      <vt:lpstr>LED-Platine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Schröder, Lukas</dc:creator>
  <cp:lastModifiedBy>Schröder, Lukas</cp:lastModifiedBy>
  <cp:revision>10</cp:revision>
  <dcterms:created xsi:type="dcterms:W3CDTF">2025-03-28T00:16:41Z</dcterms:created>
  <dcterms:modified xsi:type="dcterms:W3CDTF">2025-04-03T12:28:05Z</dcterms:modified>
</cp:coreProperties>
</file>