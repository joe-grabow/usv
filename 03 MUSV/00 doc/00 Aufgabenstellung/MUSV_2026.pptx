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70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Die Aufgaben der Projektmitarbeit konkretisieren die Teamorganisation. Die Vorlage enthält hierfür keine ausgefüllte Beschreibung.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Grundlage: bereitgestellte Präsentation USV_2026.pptx.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452F3AC1-2171-4B5A-916E-167BFA887A42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A508A90E-B454-4FCE-9A47-8EC19575B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0DAED8B-0AE2-41EF-990E-C6CA8EA0FB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404B4CA9-5F61-47FE-9DB1-174E37916126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D8557BA4-0AD7-408B-8908-7364E1A0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B7E48073-81C8-4407-AEA9-F634F1DA6D8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678EA784-C874-43D2-9DE8-070777CF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6C40B3ED-B877-4D21-9133-9FE867D54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9ECB57FE-24EF-4713-BB62-71010A1A367B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3D836B3-4C04-4552-A8F4-08407717F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06B3001C-A9F3-4298-9921-5CB499384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6F8BADF0-9B29-4F56-BD78-C3E5D57662A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39B9D3D5-B005-4EB0-A4FC-E45C24E1A23D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D3DDCC8-721A-4176-85D9-A821775F1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C30ECABB-8CDD-46FA-AA27-47CFBAB84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8D683269-E786-4011-B4DB-85F2052EE51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Mechatronikprojekt 2026/27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C2E208AE-F08A-4723-9D85-23A5A6BAEFC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F7A2B5B7-4B11-476F-B909-4B17F7C9EA9D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2693382-E802-4794-A102-D0EC268CD0F9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5143500" cy="809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5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Modell-USV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E06502FA-68F3-4A2E-A149-A2F237478FF7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0482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Unmanned Surface Vehicle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2D474E47-68F1-4F00-9E51-BE051C441EB7}"/>
              </a:ext>
            </a:extLst>
          </p:cNvPr>
          <p:cNvSpPr>
            <a:spLocks noGrp="1"/>
          </p:cNvSpPr>
          <p:nvPr/>
        </p:nvSpPr>
        <p:spPr>
          <a:xfrm>
            <a:off x="609600" y="3476625"/>
            <a:ext cx="47625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Entwicklung und Erprobung eines</a:t>
            </a:r>
          </a:p>
          <a:p>
            <a:pPr>
              <a:defRPr sz="2100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ferngesteuerten Wasserfahrzeugs</a:t>
            </a:r>
          </a:p>
        </p:txBody>
      </p:sp>
      <p:pic>
        <p:nvPicPr>
          <p:cNvPr id="14" name="Grafik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05500" y="1584325"/>
            <a:ext cx="567690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987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A29EFE0B-4292-4DF8-B280-C0ED82818B7A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Projektziel und Entwicklungsaufgaben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EED59794-3ED5-4D36-B331-4E90BDC06E3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06B78C5-6229-4075-928C-5930367185F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71FA41F-C0A7-4D33-B2CA-5A40B9CE175F}"/>
              </a:ext>
            </a:extLst>
          </p:cNvPr>
          <p:cNvSpPr>
            <a:spLocks noGrp="1"/>
          </p:cNvSpPr>
          <p:nvPr/>
        </p:nvSpPr>
        <p:spPr>
          <a:xfrm>
            <a:off x="609600" y="1390650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Studierende entwickeln ein Modell-Wasserfahrzeug und erproben es im ferngesteuerten Betrieb.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88AEDA3-16DD-4A6F-9473-B25D1B0430D5}"/>
              </a:ext>
            </a:extLst>
          </p:cNvPr>
          <p:cNvSpPr>
            <a:spLocks noGrp="1"/>
          </p:cNvSpPr>
          <p:nvPr/>
        </p:nvSpPr>
        <p:spPr>
          <a:xfrm>
            <a:off x="609600" y="28575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Mechanischer Aufbau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94E6E239-B3B8-4304-B880-94E571937FEE}"/>
              </a:ext>
            </a:extLst>
          </p:cNvPr>
          <p:cNvSpPr>
            <a:spLocks noGrp="1"/>
          </p:cNvSpPr>
          <p:nvPr/>
        </p:nvSpPr>
        <p:spPr>
          <a:xfrm>
            <a:off x="609600" y="336232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Entwicklung und Bau des Modells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Integration der Antriebe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653AF2C2-4943-437B-AF67-308164C975F2}"/>
              </a:ext>
            </a:extLst>
          </p:cNvPr>
          <p:cNvSpPr>
            <a:spLocks noGrp="1"/>
          </p:cNvSpPr>
          <p:nvPr/>
        </p:nvSpPr>
        <p:spPr>
          <a:xfrm>
            <a:off x="6381750" y="28575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Steuerung und Navigation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2E23E6A8-AB4F-4849-BBB5-AF5F1999B367}"/>
              </a:ext>
            </a:extLst>
          </p:cNvPr>
          <p:cNvSpPr>
            <a:spLocks noGrp="1"/>
          </p:cNvSpPr>
          <p:nvPr/>
        </p:nvSpPr>
        <p:spPr>
          <a:xfrm>
            <a:off x="6381750" y="336232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Integration der Steuerung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Integration von GPS und Kompass</a:t>
            </a:r>
          </a:p>
        </p:txBody>
      </p:sp>
    </p:spTree>
    <p:extLst>
      <p:ext uri="{BB962C8B-B14F-4D97-AF65-F5344CB8AC3E}">
        <p14:creationId xmlns:p14="http://schemas.microsoft.com/office/powerpoint/2010/main" val="1618360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52794019-4C3B-4E89-8AE4-68ECAF1B67D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Projektablauf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52F61EE-9835-41E5-8E01-D9ED2BADAB3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C6EBA0B8-6E13-420A-8A08-3D574DDFE8B7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BD616F5-42D7-423A-92F9-3BA649BAEFE7}"/>
              </a:ext>
            </a:extLst>
          </p:cNvPr>
          <p:cNvSpPr>
            <a:spLocks noGrp="1"/>
          </p:cNvSpPr>
          <p:nvPr/>
        </p:nvSpPr>
        <p:spPr>
          <a:xfrm>
            <a:off x="609600" y="15049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01  Projektteams bilden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FA6CD1C9-B1F8-46B5-A77A-34C168D7CD43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04775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Teamaufbau und Aufgabenverteilung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E09759E-449C-4B47-B7EA-A855A8C7E7B5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02  Projekt durchführen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29E53-EB4D-48C0-9FB7-1864BCB3E504}"/>
              </a:ext>
            </a:extLst>
          </p:cNvPr>
          <p:cNvSpPr>
            <a:spLocks noGrp="1"/>
          </p:cNvSpPr>
          <p:nvPr/>
        </p:nvSpPr>
        <p:spPr>
          <a:xfrm>
            <a:off x="609600" y="3457575"/>
            <a:ext cx="104775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Projektarbeit und Projektmeetings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Qualitätskontrolle und Dokumentation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A00A1586-33F8-4AAC-94AD-71F15B7D0E95}"/>
              </a:ext>
            </a:extLst>
          </p:cNvPr>
          <p:cNvSpPr>
            <a:spLocks noGrp="1"/>
          </p:cNvSpPr>
          <p:nvPr/>
        </p:nvSpPr>
        <p:spPr>
          <a:xfrm>
            <a:off x="609600" y="4429125"/>
            <a:ext cx="10477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03  Projekt abschließen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F138693-5246-4D52-9FFE-21B45CA62DBE}"/>
              </a:ext>
            </a:extLst>
          </p:cNvPr>
          <p:cNvSpPr>
            <a:spLocks noGrp="1"/>
          </p:cNvSpPr>
          <p:nvPr/>
        </p:nvSpPr>
        <p:spPr>
          <a:xfrm>
            <a:off x="609600" y="4933950"/>
            <a:ext cx="10477500" cy="1257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Ergebnisse zusammenführen und präsentieren</a:t>
            </a:r>
          </a:p>
        </p:txBody>
      </p:sp>
    </p:spTree>
    <p:extLst>
      <p:ext uri="{BB962C8B-B14F-4D97-AF65-F5344CB8AC3E}">
        <p14:creationId xmlns:p14="http://schemas.microsoft.com/office/powerpoint/2010/main" val="2064884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4293C5C-69D8-497D-A65F-9E87AA811C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Teamaufbau und Verantwortung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57A12695-EA25-4CF0-832C-74C6B398661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D7D3526-62A5-41F7-8682-6016F94132D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B939EEAD-DEC4-4264-AAAD-4A2A02A12807}"/>
              </a:ext>
            </a:extLst>
          </p:cNvPr>
          <p:cNvSpPr>
            <a:spLocks noGrp="1"/>
          </p:cNvSpPr>
          <p:nvPr/>
        </p:nvSpPr>
        <p:spPr>
          <a:xfrm>
            <a:off x="609600" y="16192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Projektleitung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83CEBFF7-5370-465D-81A8-4311A174C85D}"/>
              </a:ext>
            </a:extLst>
          </p:cNvPr>
          <p:cNvSpPr>
            <a:spLocks noGrp="1"/>
          </p:cNvSpPr>
          <p:nvPr/>
        </p:nvSpPr>
        <p:spPr>
          <a:xfrm>
            <a:off x="609600" y="212407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Projektverantwortung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Aufgaben verteilen und koordinieren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Bearbeitung der Aufgaben überwachen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D413128F-B9B4-4737-8A3C-A8198FA97FDA}"/>
              </a:ext>
            </a:extLst>
          </p:cNvPr>
          <p:cNvSpPr>
            <a:spLocks noGrp="1"/>
          </p:cNvSpPr>
          <p:nvPr/>
        </p:nvSpPr>
        <p:spPr>
          <a:xfrm>
            <a:off x="6381750" y="161925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Projektmitarbeit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3BBFDBF-94AF-4CE3-9F14-608FBBB29754}"/>
              </a:ext>
            </a:extLst>
          </p:cNvPr>
          <p:cNvSpPr>
            <a:spLocks noGrp="1"/>
          </p:cNvSpPr>
          <p:nvPr/>
        </p:nvSpPr>
        <p:spPr>
          <a:xfrm>
            <a:off x="6381750" y="212407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Zugeordnete Aufgaben bearbeiten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Fortschritt im Team abstimmen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Ergebnisse dokumentieren</a:t>
            </a:r>
          </a:p>
        </p:txBody>
      </p:sp>
    </p:spTree>
    <p:extLst>
      <p:ext uri="{BB962C8B-B14F-4D97-AF65-F5344CB8AC3E}">
        <p14:creationId xmlns:p14="http://schemas.microsoft.com/office/powerpoint/2010/main" val="1623847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940E965F-DC62-44EE-8CAF-8A7EC47A10AE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Planungsunterlagen und Qualitätskontrolle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19049EA7-3B97-4983-8E13-C45F4D952D4D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ACA45C7B-3834-4BCD-BF36-A94732293A9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EFCE2B08-3340-44E4-9C16-8101761BD06D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Für alle Teams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A333D9B-9780-4E63-ABB6-035494C182E4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Projektantrag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Projektstrukturplan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Meilensteinplan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Terminplan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Aufwandsabschätzung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7F35D250-A8A3-469E-8C67-99B771E1AF84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Qualitätskontrolle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33CD6212-40A9-4DB8-9AAA-97A6F4BD8F11}"/>
              </a:ext>
            </a:extLst>
          </p:cNvPr>
          <p:cNvSpPr>
            <a:spLocks noGrp="1"/>
          </p:cNvSpPr>
          <p:nvPr/>
        </p:nvSpPr>
        <p:spPr>
          <a:xfrm>
            <a:off x="6381750" y="202882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Die Planungsunterlagen bilden die Grundlage für die laufende Überprüfung des Projektfortschritts.</a:t>
            </a:r>
          </a:p>
        </p:txBody>
      </p:sp>
    </p:spTree>
    <p:extLst>
      <p:ext uri="{BB962C8B-B14F-4D97-AF65-F5344CB8AC3E}">
        <p14:creationId xmlns:p14="http://schemas.microsoft.com/office/powerpoint/2010/main" val="906856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CBA089EC-1626-4006-9217-B6F4D74327F8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Projektmanagement und Dokumentation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F6A294B-DC48-4606-9F36-419F335D6543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DE57E08-C7D0-4130-85B7-A5AE00FD5F29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DFB1B505-0A65-4BF9-832E-A275BB26005E}"/>
              </a:ext>
            </a:extLst>
          </p:cNvPr>
          <p:cNvSpPr>
            <a:spLocks noGrp="1"/>
          </p:cNvSpPr>
          <p:nvPr/>
        </p:nvSpPr>
        <p:spPr>
          <a:xfrm>
            <a:off x="609600" y="15240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Planung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5CA90E9-3BC8-4922-BD3E-938A50EBB88D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Projektauftrag und Projektstrukturplan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Meilensteinplan und Terminplan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Risikomanagement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Aufwandsabschätzung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Kosten- und Ressourcenplan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ABB4EB07-F8E1-4338-A257-104115EA7121}"/>
              </a:ext>
            </a:extLst>
          </p:cNvPr>
          <p:cNvSpPr>
            <a:spLocks noGrp="1"/>
          </p:cNvSpPr>
          <p:nvPr/>
        </p:nvSpPr>
        <p:spPr>
          <a:xfrm>
            <a:off x="6381750" y="1524000"/>
            <a:ext cx="4953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Zusammenarbeit und Nachweise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EA812E7-975D-4759-8885-978F1B20748D}"/>
              </a:ext>
            </a:extLst>
          </p:cNvPr>
          <p:cNvSpPr>
            <a:spLocks noGrp="1"/>
          </p:cNvSpPr>
          <p:nvPr/>
        </p:nvSpPr>
        <p:spPr>
          <a:xfrm>
            <a:off x="6381750" y="2028825"/>
            <a:ext cx="4953000" cy="2190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Meetings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Protokolle aller Beratungen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Aktennotizen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Projektstatusberichte</a:t>
            </a:r>
          </a:p>
          <a:p>
            <a:pPr>
              <a:defRPr sz="20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Kommunikationsplan</a:t>
            </a:r>
          </a:p>
        </p:txBody>
      </p:sp>
    </p:spTree>
    <p:extLst>
      <p:ext uri="{BB962C8B-B14F-4D97-AF65-F5344CB8AC3E}">
        <p14:creationId xmlns:p14="http://schemas.microsoft.com/office/powerpoint/2010/main" val="564986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3DE3A3AB-D5DE-4301-88D6-CE937C1902B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USV: Entwurf und Aufbau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6857076-AD3D-411F-9662-859D0A2BF17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C1E44B01-5C53-4F34-B411-FD62061C0CA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8A0CFE6-0B0D-44EC-B608-CEAF72B7384D}"/>
              </a:ext>
            </a:extLst>
          </p:cNvPr>
          <p:cNvSpPr>
            <a:spLocks noGrp="1"/>
          </p:cNvSpPr>
          <p:nvPr/>
        </p:nvSpPr>
        <p:spPr>
          <a:xfrm>
            <a:off x="2476500" y="55245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Seitenansicht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87CA3D43-48B7-44AE-BD09-E02CED83D801}"/>
              </a:ext>
            </a:extLst>
          </p:cNvPr>
          <p:cNvSpPr>
            <a:spLocks noGrp="1"/>
          </p:cNvSpPr>
          <p:nvPr/>
        </p:nvSpPr>
        <p:spPr>
          <a:xfrm>
            <a:off x="609600" y="5953125"/>
            <a:ext cx="104775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Entwurfsskizze vom 14.05.2020  ·  J. Grabow</a:t>
            </a:r>
          </a:p>
        </p:txBody>
      </p:sp>
      <p:grpSp>
        <p:nvGrpSpPr>
          <p:cNvPr id="7" name="USV Entwurfsskizze"/>
          <p:cNvGrpSpPr/>
          <p:nvPr/>
        </p:nvGrpSpPr>
        <p:grpSpPr>
          <a:xfrm>
            <a:off x="1809750" y="1428750"/>
            <a:ext cx="8572500" cy="4095750"/>
            <a:chOff x="571500" y="762000"/>
            <a:chExt cx="8001000" cy="5238750"/>
          </a:xfrm>
        </p:grpSpPr>
        <p:grpSp>
          <p:nvGrpSpPr>
            <p:cNvPr id="8" name="Gruppieren 1">
              <a:extLst>
                <a:ext uri="{FF2B5EF4-FFF2-40B4-BE49-F238E27FC236}">
                  <a16:creationId xmlns:a16="http://schemas.microsoft.com/office/drawing/2014/main" id="{2AA56686-D9C1-41D7-8AE5-6E8B5383867A}"/>
                </a:ext>
              </a:extLst>
            </p:cNvPr>
            <p:cNvGrpSpPr/>
            <p:nvPr/>
          </p:nvGrpSpPr>
          <p:grpSpPr>
            <a:xfrm>
              <a:off x="655251" y="1058324"/>
              <a:ext cx="4390302" cy="559244"/>
              <a:chOff x="1997437" y="1024734"/>
              <a:chExt cx="4390302" cy="559244"/>
            </a:xfrm>
          </p:grpSpPr>
          <p:grpSp>
            <p:nvGrpSpPr>
              <p:cNvPr id="9" name="Gruppieren 2">
                <a:extLst>
                  <a:ext uri="{FF2B5EF4-FFF2-40B4-BE49-F238E27FC236}">
                    <a16:creationId xmlns:a16="http://schemas.microsoft.com/office/drawing/2014/main" id="{B89B3082-D9B5-4237-B5BB-BC684E3CC85F}"/>
                  </a:ext>
                </a:extLst>
              </p:cNvPr>
              <p:cNvGrpSpPr/>
              <p:nvPr/>
            </p:nvGrpSpPr>
            <p:grpSpPr>
              <a:xfrm>
                <a:off x="1999339" y="1025978"/>
                <a:ext cx="4388400" cy="558000"/>
                <a:chOff x="1463040" y="1959428"/>
                <a:chExt cx="4388400" cy="558000"/>
              </a:xfrm>
            </p:grpSpPr>
            <p:sp>
              <p:nvSpPr>
                <p:cNvPr id="10" name="Flussdiagramm: Verzögerung 7">
                  <a:extLst>
                    <a:ext uri="{FF2B5EF4-FFF2-40B4-BE49-F238E27FC236}">
                      <a16:creationId xmlns:a16="http://schemas.microsoft.com/office/drawing/2014/main" id="{87C2F259-3B62-4747-9939-F05B791206C6}"/>
                    </a:ext>
                  </a:extLst>
                </p:cNvPr>
                <p:cNvSpPr/>
                <p:nvPr/>
              </p:nvSpPr>
              <p:spPr>
                <a:xfrm>
                  <a:off x="3282410" y="1959428"/>
                  <a:ext cx="2569030" cy="558000"/>
                </a:xfrm>
                <a:prstGeom prst="flowChartDelay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11" name="Flussdiagramm: Verzögerung 8">
                  <a:extLst>
                    <a:ext uri="{FF2B5EF4-FFF2-40B4-BE49-F238E27FC236}">
                      <a16:creationId xmlns:a16="http://schemas.microsoft.com/office/drawing/2014/main" id="{8B0B29F3-2998-4D2D-A591-111C516B751A}"/>
                    </a:ext>
                  </a:extLst>
                </p:cNvPr>
                <p:cNvSpPr/>
                <p:nvPr/>
              </p:nvSpPr>
              <p:spPr>
                <a:xfrm flipH="1">
                  <a:off x="1463040" y="1959428"/>
                  <a:ext cx="536299" cy="558000"/>
                </a:xfrm>
                <a:prstGeom prst="flowChartDelay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12" name="Rechteck 9">
                  <a:extLst>
                    <a:ext uri="{FF2B5EF4-FFF2-40B4-BE49-F238E27FC236}">
                      <a16:creationId xmlns:a16="http://schemas.microsoft.com/office/drawing/2014/main" id="{3E44CDC3-21A7-4351-9B61-9893C3CB119E}"/>
                    </a:ext>
                  </a:extLst>
                </p:cNvPr>
                <p:cNvSpPr/>
                <p:nvPr/>
              </p:nvSpPr>
              <p:spPr>
                <a:xfrm>
                  <a:off x="1999339" y="1959428"/>
                  <a:ext cx="1283071" cy="558000"/>
                </a:xfrm>
                <a:prstGeom prst="rect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13" name="Rechteck 10">
                  <a:extLst>
                    <a:ext uri="{FF2B5EF4-FFF2-40B4-BE49-F238E27FC236}">
                      <a16:creationId xmlns:a16="http://schemas.microsoft.com/office/drawing/2014/main" id="{0DC3BED5-8267-4C4C-9458-7179DDB09861}"/>
                    </a:ext>
                  </a:extLst>
                </p:cNvPr>
                <p:cNvSpPr/>
                <p:nvPr/>
              </p:nvSpPr>
              <p:spPr>
                <a:xfrm>
                  <a:off x="1894655" y="1976438"/>
                  <a:ext cx="209367" cy="52149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14" name="Rechteck 11">
                  <a:extLst>
                    <a:ext uri="{FF2B5EF4-FFF2-40B4-BE49-F238E27FC236}">
                      <a16:creationId xmlns:a16="http://schemas.microsoft.com/office/drawing/2014/main" id="{721BE7B8-8628-4A3D-8A52-3EBE9CCE72B2}"/>
                    </a:ext>
                  </a:extLst>
                </p:cNvPr>
                <p:cNvSpPr/>
                <p:nvPr/>
              </p:nvSpPr>
              <p:spPr>
                <a:xfrm>
                  <a:off x="3177726" y="1976438"/>
                  <a:ext cx="209367" cy="52149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</p:grpSp>
          <p:cxnSp>
            <p:nvCxnSpPr>
              <p:cNvPr id="15" name="Gerader Verbinder 3">
                <a:extLst>
                  <a:ext uri="{FF2B5EF4-FFF2-40B4-BE49-F238E27FC236}">
                    <a16:creationId xmlns:a16="http://schemas.microsoft.com/office/drawing/2014/main" id="{2EDEC043-6D51-4268-A464-9438946126B1}"/>
                  </a:ext>
                </a:extLst>
              </p:cNvPr>
              <p:cNvCxnSpPr/>
              <p:nvPr/>
            </p:nvCxnSpPr>
            <p:spPr>
              <a:xfrm flipH="1">
                <a:off x="1997437" y="1303734"/>
                <a:ext cx="1076400" cy="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Gerader Verbinder 4">
                <a:extLst>
                  <a:ext uri="{FF2B5EF4-FFF2-40B4-BE49-F238E27FC236}">
                    <a16:creationId xmlns:a16="http://schemas.microsoft.com/office/drawing/2014/main" id="{5623DD06-8592-4D46-902F-B90AC247E58A}"/>
                  </a:ext>
                </a:extLst>
              </p:cNvPr>
              <p:cNvCxnSpPr/>
              <p:nvPr/>
            </p:nvCxnSpPr>
            <p:spPr>
              <a:xfrm flipH="1">
                <a:off x="4821739" y="1303734"/>
                <a:ext cx="1566000" cy="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Gerader Verbinder 5">
                <a:extLst>
                  <a:ext uri="{FF2B5EF4-FFF2-40B4-BE49-F238E27FC236}">
                    <a16:creationId xmlns:a16="http://schemas.microsoft.com/office/drawing/2014/main" id="{E483D24A-25A3-4B24-91F1-AAF25523225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3837" y="1025978"/>
                <a:ext cx="0" cy="55800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Gerader Verbinder 6">
                <a:extLst>
                  <a:ext uri="{FF2B5EF4-FFF2-40B4-BE49-F238E27FC236}">
                    <a16:creationId xmlns:a16="http://schemas.microsoft.com/office/drawing/2014/main" id="{858E6E8D-E4E0-4429-9323-647F0E125F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4238" y="1024734"/>
                <a:ext cx="0" cy="55800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uppieren 12">
              <a:extLst>
                <a:ext uri="{FF2B5EF4-FFF2-40B4-BE49-F238E27FC236}">
                  <a16:creationId xmlns:a16="http://schemas.microsoft.com/office/drawing/2014/main" id="{DF71D208-F49A-456F-8B03-2FED22336676}"/>
                </a:ext>
              </a:extLst>
            </p:cNvPr>
            <p:cNvGrpSpPr/>
            <p:nvPr/>
          </p:nvGrpSpPr>
          <p:grpSpPr>
            <a:xfrm>
              <a:off x="655251" y="2686841"/>
              <a:ext cx="4390302" cy="559244"/>
              <a:chOff x="1997437" y="1024734"/>
              <a:chExt cx="4390302" cy="559244"/>
            </a:xfrm>
          </p:grpSpPr>
          <p:grpSp>
            <p:nvGrpSpPr>
              <p:cNvPr id="20" name="Gruppieren 13">
                <a:extLst>
                  <a:ext uri="{FF2B5EF4-FFF2-40B4-BE49-F238E27FC236}">
                    <a16:creationId xmlns:a16="http://schemas.microsoft.com/office/drawing/2014/main" id="{FB5A4755-68C3-4E58-B979-428ABEFA517C}"/>
                  </a:ext>
                </a:extLst>
              </p:cNvPr>
              <p:cNvGrpSpPr/>
              <p:nvPr/>
            </p:nvGrpSpPr>
            <p:grpSpPr>
              <a:xfrm>
                <a:off x="1999339" y="1025978"/>
                <a:ext cx="4388400" cy="558000"/>
                <a:chOff x="1463040" y="1959428"/>
                <a:chExt cx="4388400" cy="558000"/>
              </a:xfrm>
            </p:grpSpPr>
            <p:sp>
              <p:nvSpPr>
                <p:cNvPr id="21" name="Flussdiagramm: Verzögerung 18">
                  <a:extLst>
                    <a:ext uri="{FF2B5EF4-FFF2-40B4-BE49-F238E27FC236}">
                      <a16:creationId xmlns:a16="http://schemas.microsoft.com/office/drawing/2014/main" id="{B31CB676-39AA-4753-9FDF-62FD3FF0A704}"/>
                    </a:ext>
                  </a:extLst>
                </p:cNvPr>
                <p:cNvSpPr/>
                <p:nvPr/>
              </p:nvSpPr>
              <p:spPr>
                <a:xfrm>
                  <a:off x="3282410" y="1959428"/>
                  <a:ext cx="2569030" cy="558000"/>
                </a:xfrm>
                <a:prstGeom prst="flowChartDelay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22" name="Flussdiagramm: Verzögerung 19">
                  <a:extLst>
                    <a:ext uri="{FF2B5EF4-FFF2-40B4-BE49-F238E27FC236}">
                      <a16:creationId xmlns:a16="http://schemas.microsoft.com/office/drawing/2014/main" id="{C7A6D07F-B52F-4018-AAF9-8020CE42909B}"/>
                    </a:ext>
                  </a:extLst>
                </p:cNvPr>
                <p:cNvSpPr/>
                <p:nvPr/>
              </p:nvSpPr>
              <p:spPr>
                <a:xfrm flipH="1">
                  <a:off x="1463040" y="1959428"/>
                  <a:ext cx="536299" cy="558000"/>
                </a:xfrm>
                <a:prstGeom prst="flowChartDelay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23" name="Rechteck 20">
                  <a:extLst>
                    <a:ext uri="{FF2B5EF4-FFF2-40B4-BE49-F238E27FC236}">
                      <a16:creationId xmlns:a16="http://schemas.microsoft.com/office/drawing/2014/main" id="{D3E14A6A-3661-4DF9-A37F-77B01CB301D7}"/>
                    </a:ext>
                  </a:extLst>
                </p:cNvPr>
                <p:cNvSpPr/>
                <p:nvPr/>
              </p:nvSpPr>
              <p:spPr>
                <a:xfrm>
                  <a:off x="1999339" y="1959428"/>
                  <a:ext cx="1283071" cy="558000"/>
                </a:xfrm>
                <a:prstGeom prst="rect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24" name="Rechteck 21">
                  <a:extLst>
                    <a:ext uri="{FF2B5EF4-FFF2-40B4-BE49-F238E27FC236}">
                      <a16:creationId xmlns:a16="http://schemas.microsoft.com/office/drawing/2014/main" id="{80D11BF1-5CE2-41F4-B867-42BDCFD7C4E5}"/>
                    </a:ext>
                  </a:extLst>
                </p:cNvPr>
                <p:cNvSpPr/>
                <p:nvPr/>
              </p:nvSpPr>
              <p:spPr>
                <a:xfrm>
                  <a:off x="1894655" y="1976438"/>
                  <a:ext cx="209367" cy="52149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25" name="Rechteck 22">
                  <a:extLst>
                    <a:ext uri="{FF2B5EF4-FFF2-40B4-BE49-F238E27FC236}">
                      <a16:creationId xmlns:a16="http://schemas.microsoft.com/office/drawing/2014/main" id="{EBDD00B2-0ED3-4DED-8314-B2CE9A149A23}"/>
                    </a:ext>
                  </a:extLst>
                </p:cNvPr>
                <p:cNvSpPr/>
                <p:nvPr/>
              </p:nvSpPr>
              <p:spPr>
                <a:xfrm>
                  <a:off x="3177726" y="1976438"/>
                  <a:ext cx="209367" cy="521493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</p:grpSp>
          <p:cxnSp>
            <p:nvCxnSpPr>
              <p:cNvPr id="26" name="Gerader Verbinder 14">
                <a:extLst>
                  <a:ext uri="{FF2B5EF4-FFF2-40B4-BE49-F238E27FC236}">
                    <a16:creationId xmlns:a16="http://schemas.microsoft.com/office/drawing/2014/main" id="{2ECA95A3-D523-4A2B-977F-FEADAD6578DE}"/>
                  </a:ext>
                </a:extLst>
              </p:cNvPr>
              <p:cNvCxnSpPr/>
              <p:nvPr/>
            </p:nvCxnSpPr>
            <p:spPr>
              <a:xfrm flipH="1">
                <a:off x="1997437" y="1303734"/>
                <a:ext cx="1076400" cy="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Gerader Verbinder 15">
                <a:extLst>
                  <a:ext uri="{FF2B5EF4-FFF2-40B4-BE49-F238E27FC236}">
                    <a16:creationId xmlns:a16="http://schemas.microsoft.com/office/drawing/2014/main" id="{F8638DB2-F1E0-49CB-A246-898609AB02C5}"/>
                  </a:ext>
                </a:extLst>
              </p:cNvPr>
              <p:cNvCxnSpPr/>
              <p:nvPr/>
            </p:nvCxnSpPr>
            <p:spPr>
              <a:xfrm flipH="1">
                <a:off x="4821739" y="1303734"/>
                <a:ext cx="1566000" cy="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Gerader Verbinder 16">
                <a:extLst>
                  <a:ext uri="{FF2B5EF4-FFF2-40B4-BE49-F238E27FC236}">
                    <a16:creationId xmlns:a16="http://schemas.microsoft.com/office/drawing/2014/main" id="{9E2C3C55-C2AD-48AD-895A-50BDD32220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73837" y="1025978"/>
                <a:ext cx="0" cy="55800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r Verbinder 17">
                <a:extLst>
                  <a:ext uri="{FF2B5EF4-FFF2-40B4-BE49-F238E27FC236}">
                    <a16:creationId xmlns:a16="http://schemas.microsoft.com/office/drawing/2014/main" id="{F4F7BCAC-23E9-4050-A54C-6D7331FAF9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14238" y="1024734"/>
                <a:ext cx="0" cy="55800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0" name="Gerader Verbinder 24">
              <a:extLst>
                <a:ext uri="{FF2B5EF4-FFF2-40B4-BE49-F238E27FC236}">
                  <a16:creationId xmlns:a16="http://schemas.microsoft.com/office/drawing/2014/main" id="{6BA1CF8A-EDC9-45FB-ADE0-AD2F9E3C15F7}"/>
                </a:ext>
              </a:extLst>
            </p:cNvPr>
            <p:cNvCxnSpPr>
              <a:cxnSpLocks/>
            </p:cNvCxnSpPr>
            <p:nvPr/>
          </p:nvCxnSpPr>
          <p:spPr>
            <a:xfrm>
              <a:off x="944352" y="2150961"/>
              <a:ext cx="3495137" cy="1"/>
            </a:xfrm>
            <a:prstGeom prst="line">
              <a:avLst/>
            </a:prstGeom>
            <a:ln w="12700">
              <a:solidFill>
                <a:schemeClr val="tx1"/>
              </a:solidFill>
              <a:prstDash val="dash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" name="Gruppieren 25">
              <a:extLst>
                <a:ext uri="{FF2B5EF4-FFF2-40B4-BE49-F238E27FC236}">
                  <a16:creationId xmlns:a16="http://schemas.microsoft.com/office/drawing/2014/main" id="{5DBCF37D-537B-418E-9CBC-6836FBF5F521}"/>
                </a:ext>
              </a:extLst>
            </p:cNvPr>
            <p:cNvGrpSpPr/>
            <p:nvPr/>
          </p:nvGrpSpPr>
          <p:grpSpPr>
            <a:xfrm>
              <a:off x="5120453" y="4067936"/>
              <a:ext cx="3437801" cy="1826097"/>
              <a:chOff x="1871663" y="4775544"/>
              <a:chExt cx="3437801" cy="1826097"/>
            </a:xfrm>
          </p:grpSpPr>
          <p:cxnSp>
            <p:nvCxnSpPr>
              <p:cNvPr id="32" name="Gerader Verbinder 26">
                <a:extLst>
                  <a:ext uri="{FF2B5EF4-FFF2-40B4-BE49-F238E27FC236}">
                    <a16:creationId xmlns:a16="http://schemas.microsoft.com/office/drawing/2014/main" id="{EC814F6E-1E76-4E48-B8B9-6559D23B7E1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71663" y="5692157"/>
                <a:ext cx="3437801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3" name="Gruppieren 27">
                <a:extLst>
                  <a:ext uri="{FF2B5EF4-FFF2-40B4-BE49-F238E27FC236}">
                    <a16:creationId xmlns:a16="http://schemas.microsoft.com/office/drawing/2014/main" id="{1A8A7207-0EC1-41DF-9ED3-22CED9232641}"/>
                  </a:ext>
                </a:extLst>
              </p:cNvPr>
              <p:cNvGrpSpPr/>
              <p:nvPr/>
            </p:nvGrpSpPr>
            <p:grpSpPr>
              <a:xfrm>
                <a:off x="2252944" y="4879752"/>
                <a:ext cx="2808685" cy="1628515"/>
                <a:chOff x="2252944" y="4879752"/>
                <a:chExt cx="2808685" cy="1628515"/>
              </a:xfrm>
            </p:grpSpPr>
            <p:grpSp>
              <p:nvGrpSpPr>
                <p:cNvPr id="34" name="Gruppieren 36">
                  <a:extLst>
                    <a:ext uri="{FF2B5EF4-FFF2-40B4-BE49-F238E27FC236}">
                      <a16:creationId xmlns:a16="http://schemas.microsoft.com/office/drawing/2014/main" id="{A4A78BF5-9CA8-4D6D-B35D-FE98E50B9DBC}"/>
                    </a:ext>
                  </a:extLst>
                </p:cNvPr>
                <p:cNvGrpSpPr/>
                <p:nvPr/>
              </p:nvGrpSpPr>
              <p:grpSpPr>
                <a:xfrm>
                  <a:off x="2252944" y="4879752"/>
                  <a:ext cx="2808685" cy="1628515"/>
                  <a:chOff x="2239564" y="2617564"/>
                  <a:chExt cx="2808685" cy="1628515"/>
                </a:xfrm>
              </p:grpSpPr>
              <p:sp>
                <p:nvSpPr>
                  <p:cNvPr id="35" name="Trapezoid 39">
                    <a:extLst>
                      <a:ext uri="{FF2B5EF4-FFF2-40B4-BE49-F238E27FC236}">
                        <a16:creationId xmlns:a16="http://schemas.microsoft.com/office/drawing/2014/main" id="{5D9E9B62-C495-43B9-8161-36D4365C5DE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238422" y="3157874"/>
                    <a:ext cx="1088770" cy="530885"/>
                  </a:xfrm>
                  <a:prstGeom prst="trapezoid">
                    <a:avLst>
                      <a:gd name="adj" fmla="val 76855"/>
                    </a:avLst>
                  </a:prstGeom>
                  <a:noFill/>
                  <a:ln w="25400"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>
                        <a:latin typeface="Arial"/>
                      </a:defRPr>
                    </a:pPr>
                    <a:endParaRPr lang="de-DE">
                      <a:latin typeface="Arial"/>
                      <a:ea typeface="Arial"/>
                      <a:cs typeface="Arial"/>
                    </a:endParaRPr>
                  </a:p>
                </p:txBody>
              </p:sp>
              <p:grpSp>
                <p:nvGrpSpPr>
                  <p:cNvPr id="36" name="Gruppieren 40">
                    <a:extLst>
                      <a:ext uri="{FF2B5EF4-FFF2-40B4-BE49-F238E27FC236}">
                        <a16:creationId xmlns:a16="http://schemas.microsoft.com/office/drawing/2014/main" id="{1162AC3C-5387-4D78-A9E4-A1F6C034DEB0}"/>
                      </a:ext>
                    </a:extLst>
                  </p:cNvPr>
                  <p:cNvGrpSpPr/>
                  <p:nvPr/>
                </p:nvGrpSpPr>
                <p:grpSpPr>
                  <a:xfrm>
                    <a:off x="2761659" y="2617564"/>
                    <a:ext cx="1764805" cy="1628515"/>
                    <a:chOff x="2761659" y="2617564"/>
                    <a:chExt cx="1764805" cy="1628515"/>
                  </a:xfrm>
                </p:grpSpPr>
                <p:sp>
                  <p:nvSpPr>
                    <p:cNvPr id="37" name="Rechteck 42">
                      <a:extLst>
                        <a:ext uri="{FF2B5EF4-FFF2-40B4-BE49-F238E27FC236}">
                          <a16:creationId xmlns:a16="http://schemas.microsoft.com/office/drawing/2014/main" id="{E68BD4A9-95E7-4E13-B383-5E509B31BD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6966" y="2617564"/>
                      <a:ext cx="1740401" cy="1628515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defRPr>
                          <a:latin typeface="Arial"/>
                        </a:defRPr>
                      </a:pPr>
                      <a:endParaRPr lang="de-DE">
                        <a:latin typeface="Arial"/>
                        <a:ea typeface="Arial"/>
                        <a:cs typeface="Arial"/>
                      </a:endParaRPr>
                    </a:p>
                  </p:txBody>
                </p:sp>
                <p:cxnSp>
                  <p:nvCxnSpPr>
                    <p:cNvPr id="38" name="Gerader Verbinder 43">
                      <a:extLst>
                        <a:ext uri="{FF2B5EF4-FFF2-40B4-BE49-F238E27FC236}">
                          <a16:creationId xmlns:a16="http://schemas.microsoft.com/office/drawing/2014/main" id="{EE95938B-F86F-4C90-B465-5EFDEADBF67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76966" y="2897184"/>
                      <a:ext cx="1749498" cy="0"/>
                    </a:xfrm>
                    <a:prstGeom prst="line">
                      <a:avLst/>
                    </a:prstGeom>
                    <a:ln w="254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9" name="Gerader Verbinder 44">
                      <a:extLst>
                        <a:ext uri="{FF2B5EF4-FFF2-40B4-BE49-F238E27FC236}">
                          <a16:creationId xmlns:a16="http://schemas.microsoft.com/office/drawing/2014/main" id="{EE591BE8-103B-4F9C-9D18-5AE2FADE1B2E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61659" y="3967701"/>
                      <a:ext cx="1749498" cy="0"/>
                    </a:xfrm>
                    <a:prstGeom prst="line">
                      <a:avLst/>
                    </a:prstGeom>
                    <a:ln w="254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0" name="Trapezoid 41">
                    <a:extLst>
                      <a:ext uri="{FF2B5EF4-FFF2-40B4-BE49-F238E27FC236}">
                        <a16:creationId xmlns:a16="http://schemas.microsoft.com/office/drawing/2014/main" id="{EBBC4591-341C-44BB-AFA0-5EFC4CC65DD7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1960622" y="3171179"/>
                    <a:ext cx="1088770" cy="530885"/>
                  </a:xfrm>
                  <a:prstGeom prst="trapezoid">
                    <a:avLst>
                      <a:gd name="adj" fmla="val 76855"/>
                    </a:avLst>
                  </a:prstGeom>
                  <a:noFill/>
                  <a:ln w="25400"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>
                        <a:latin typeface="Arial"/>
                      </a:defRPr>
                    </a:pPr>
                    <a:endParaRPr lang="de-DE">
                      <a:latin typeface="Arial"/>
                      <a:ea typeface="Arial"/>
                      <a:cs typeface="Arial"/>
                    </a:endParaRPr>
                  </a:p>
                </p:txBody>
              </p:sp>
            </p:grpSp>
            <p:cxnSp>
              <p:nvCxnSpPr>
                <p:cNvPr id="41" name="Gerader Verbinder 37">
                  <a:extLst>
                    <a:ext uri="{FF2B5EF4-FFF2-40B4-BE49-F238E27FC236}">
                      <a16:creationId xmlns:a16="http://schemas.microsoft.com/office/drawing/2014/main" id="{7F111E0D-B547-444B-A677-E7F1452BB7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63430" y="5154424"/>
                  <a:ext cx="0" cy="1075465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Gerader Verbinder 38">
                  <a:extLst>
                    <a:ext uri="{FF2B5EF4-FFF2-40B4-BE49-F238E27FC236}">
                      <a16:creationId xmlns:a16="http://schemas.microsoft.com/office/drawing/2014/main" id="{EEF126CE-145D-403B-A444-6A6B112D2C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49547" y="5167730"/>
                  <a:ext cx="0" cy="1075465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3" name="Rechteck: abgerundete Ecken 28">
                <a:extLst>
                  <a:ext uri="{FF2B5EF4-FFF2-40B4-BE49-F238E27FC236}">
                    <a16:creationId xmlns:a16="http://schemas.microsoft.com/office/drawing/2014/main" id="{F3E4796A-AB8B-401D-AC04-B46623B4C898}"/>
                  </a:ext>
                </a:extLst>
              </p:cNvPr>
              <p:cNvSpPr/>
              <p:nvPr/>
            </p:nvSpPr>
            <p:spPr>
              <a:xfrm>
                <a:off x="4438096" y="4775544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44" name="Rechteck: abgerundete Ecken 29">
                <a:extLst>
                  <a:ext uri="{FF2B5EF4-FFF2-40B4-BE49-F238E27FC236}">
                    <a16:creationId xmlns:a16="http://schemas.microsoft.com/office/drawing/2014/main" id="{C73CAFBA-14E1-40EA-8E53-66A0BF689AD2}"/>
                  </a:ext>
                </a:extLst>
              </p:cNvPr>
              <p:cNvSpPr/>
              <p:nvPr/>
            </p:nvSpPr>
            <p:spPr>
              <a:xfrm>
                <a:off x="2695423" y="4786378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45" name="Rechteck: abgerundete Ecken 30">
                <a:extLst>
                  <a:ext uri="{FF2B5EF4-FFF2-40B4-BE49-F238E27FC236}">
                    <a16:creationId xmlns:a16="http://schemas.microsoft.com/office/drawing/2014/main" id="{9198DA4A-66C2-40E6-8197-1A54AEF397CE}"/>
                  </a:ext>
                </a:extLst>
              </p:cNvPr>
              <p:cNvSpPr/>
              <p:nvPr/>
            </p:nvSpPr>
            <p:spPr>
              <a:xfrm>
                <a:off x="4438096" y="6407241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46" name="Rechteck: abgerundete Ecken 31">
                <a:extLst>
                  <a:ext uri="{FF2B5EF4-FFF2-40B4-BE49-F238E27FC236}">
                    <a16:creationId xmlns:a16="http://schemas.microsoft.com/office/drawing/2014/main" id="{55FC1F3A-992E-4EAE-B289-700597925FBC}"/>
                  </a:ext>
                </a:extLst>
              </p:cNvPr>
              <p:cNvSpPr/>
              <p:nvPr/>
            </p:nvSpPr>
            <p:spPr>
              <a:xfrm>
                <a:off x="2695423" y="6402543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grpSp>
            <p:nvGrpSpPr>
              <p:cNvPr id="47" name="Gruppieren 32">
                <a:extLst>
                  <a:ext uri="{FF2B5EF4-FFF2-40B4-BE49-F238E27FC236}">
                    <a16:creationId xmlns:a16="http://schemas.microsoft.com/office/drawing/2014/main" id="{74351C71-9597-435D-9610-988FACB3D0A0}"/>
                  </a:ext>
                </a:extLst>
              </p:cNvPr>
              <p:cNvGrpSpPr/>
              <p:nvPr/>
            </p:nvGrpSpPr>
            <p:grpSpPr>
              <a:xfrm>
                <a:off x="3366379" y="5159372"/>
                <a:ext cx="579910" cy="1075466"/>
                <a:chOff x="3357056" y="2909271"/>
                <a:chExt cx="579910" cy="1075466"/>
              </a:xfrm>
            </p:grpSpPr>
            <p:sp>
              <p:nvSpPr>
                <p:cNvPr id="48" name="Rechteck: abgerundete Ecken 33">
                  <a:extLst>
                    <a:ext uri="{FF2B5EF4-FFF2-40B4-BE49-F238E27FC236}">
                      <a16:creationId xmlns:a16="http://schemas.microsoft.com/office/drawing/2014/main" id="{8224730E-00C2-4640-95D4-1DC3DB411D26}"/>
                    </a:ext>
                  </a:extLst>
                </p:cNvPr>
                <p:cNvSpPr/>
                <p:nvPr/>
              </p:nvSpPr>
              <p:spPr>
                <a:xfrm>
                  <a:off x="3357056" y="3087856"/>
                  <a:ext cx="452128" cy="740243"/>
                </a:xfrm>
                <a:prstGeom prst="roundRect">
                  <a:avLst/>
                </a:prstGeom>
                <a:noFill/>
                <a:ln w="254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cxnSp>
              <p:nvCxnSpPr>
                <p:cNvPr id="49" name="Gerader Verbinder 34">
                  <a:extLst>
                    <a:ext uri="{FF2B5EF4-FFF2-40B4-BE49-F238E27FC236}">
                      <a16:creationId xmlns:a16="http://schemas.microsoft.com/office/drawing/2014/main" id="{7EB26031-F362-4036-A278-B9D3858B99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3567" y="2909271"/>
                  <a:ext cx="153399" cy="206951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" name="Gerader Verbinder 35">
                  <a:extLst>
                    <a:ext uri="{FF2B5EF4-FFF2-40B4-BE49-F238E27FC236}">
                      <a16:creationId xmlns:a16="http://schemas.microsoft.com/office/drawing/2014/main" id="{0FB5CD99-A18C-4CE0-85EE-9640F78C52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83567" y="3820204"/>
                  <a:ext cx="153398" cy="164533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1" name="Gruppieren 45">
              <a:extLst>
                <a:ext uri="{FF2B5EF4-FFF2-40B4-BE49-F238E27FC236}">
                  <a16:creationId xmlns:a16="http://schemas.microsoft.com/office/drawing/2014/main" id="{46AC8B4B-2317-4B9D-A07C-541E25C7AF8F}"/>
                </a:ext>
              </a:extLst>
            </p:cNvPr>
            <p:cNvGrpSpPr/>
            <p:nvPr/>
          </p:nvGrpSpPr>
          <p:grpSpPr>
            <a:xfrm>
              <a:off x="803320" y="1238534"/>
              <a:ext cx="3437801" cy="1826097"/>
              <a:chOff x="1871663" y="4775544"/>
              <a:chExt cx="3437801" cy="1826097"/>
            </a:xfrm>
          </p:grpSpPr>
          <p:cxnSp>
            <p:nvCxnSpPr>
              <p:cNvPr id="52" name="Gerader Verbinder 46">
                <a:extLst>
                  <a:ext uri="{FF2B5EF4-FFF2-40B4-BE49-F238E27FC236}">
                    <a16:creationId xmlns:a16="http://schemas.microsoft.com/office/drawing/2014/main" id="{3B8A1E2B-6230-4A85-8208-8A6E356E418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871663" y="5692157"/>
                <a:ext cx="3437801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3" name="Gruppieren 47">
                <a:extLst>
                  <a:ext uri="{FF2B5EF4-FFF2-40B4-BE49-F238E27FC236}">
                    <a16:creationId xmlns:a16="http://schemas.microsoft.com/office/drawing/2014/main" id="{EF55741C-E955-4F8F-91DE-8499A65E06E2}"/>
                  </a:ext>
                </a:extLst>
              </p:cNvPr>
              <p:cNvGrpSpPr/>
              <p:nvPr/>
            </p:nvGrpSpPr>
            <p:grpSpPr>
              <a:xfrm>
                <a:off x="2252944" y="4879752"/>
                <a:ext cx="2808685" cy="1628515"/>
                <a:chOff x="2252944" y="4879752"/>
                <a:chExt cx="2808685" cy="1628515"/>
              </a:xfrm>
            </p:grpSpPr>
            <p:grpSp>
              <p:nvGrpSpPr>
                <p:cNvPr id="54" name="Gruppieren 56">
                  <a:extLst>
                    <a:ext uri="{FF2B5EF4-FFF2-40B4-BE49-F238E27FC236}">
                      <a16:creationId xmlns:a16="http://schemas.microsoft.com/office/drawing/2014/main" id="{CB862BD6-F1B5-43D5-AE2C-E4887F624D3A}"/>
                    </a:ext>
                  </a:extLst>
                </p:cNvPr>
                <p:cNvGrpSpPr/>
                <p:nvPr/>
              </p:nvGrpSpPr>
              <p:grpSpPr>
                <a:xfrm>
                  <a:off x="2252944" y="4879752"/>
                  <a:ext cx="2808685" cy="1628515"/>
                  <a:chOff x="2239564" y="2617564"/>
                  <a:chExt cx="2808685" cy="1628515"/>
                </a:xfrm>
              </p:grpSpPr>
              <p:sp>
                <p:nvSpPr>
                  <p:cNvPr id="55" name="Trapezoid 59">
                    <a:extLst>
                      <a:ext uri="{FF2B5EF4-FFF2-40B4-BE49-F238E27FC236}">
                        <a16:creationId xmlns:a16="http://schemas.microsoft.com/office/drawing/2014/main" id="{B2F2DCEF-44FD-41CB-B6AF-D088335E3EC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4238422" y="3157874"/>
                    <a:ext cx="1088770" cy="530885"/>
                  </a:xfrm>
                  <a:prstGeom prst="trapezoid">
                    <a:avLst>
                      <a:gd name="adj" fmla="val 76855"/>
                    </a:avLst>
                  </a:prstGeom>
                  <a:noFill/>
                  <a:ln w="25400"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>
                        <a:latin typeface="Arial"/>
                      </a:defRPr>
                    </a:pPr>
                    <a:endParaRPr lang="de-DE">
                      <a:latin typeface="Arial"/>
                      <a:ea typeface="Arial"/>
                      <a:cs typeface="Arial"/>
                    </a:endParaRPr>
                  </a:p>
                </p:txBody>
              </p:sp>
              <p:grpSp>
                <p:nvGrpSpPr>
                  <p:cNvPr id="56" name="Gruppieren 60">
                    <a:extLst>
                      <a:ext uri="{FF2B5EF4-FFF2-40B4-BE49-F238E27FC236}">
                        <a16:creationId xmlns:a16="http://schemas.microsoft.com/office/drawing/2014/main" id="{90E2CD29-20BA-4149-B978-6B8759510098}"/>
                      </a:ext>
                    </a:extLst>
                  </p:cNvPr>
                  <p:cNvGrpSpPr/>
                  <p:nvPr/>
                </p:nvGrpSpPr>
                <p:grpSpPr>
                  <a:xfrm>
                    <a:off x="2761659" y="2617564"/>
                    <a:ext cx="1764805" cy="1628515"/>
                    <a:chOff x="2761659" y="2617564"/>
                    <a:chExt cx="1764805" cy="1628515"/>
                  </a:xfrm>
                </p:grpSpPr>
                <p:sp>
                  <p:nvSpPr>
                    <p:cNvPr id="57" name="Rechteck 62">
                      <a:extLst>
                        <a:ext uri="{FF2B5EF4-FFF2-40B4-BE49-F238E27FC236}">
                          <a16:creationId xmlns:a16="http://schemas.microsoft.com/office/drawing/2014/main" id="{1DDF4183-C857-4CC9-95F1-9B0C645D308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2776966" y="2617564"/>
                      <a:ext cx="1740401" cy="1628515"/>
                    </a:xfrm>
                    <a:prstGeom prst="rect">
                      <a:avLst/>
                    </a:prstGeom>
                    <a:noFill/>
                    <a:ln w="25400">
                      <a:solidFill>
                        <a:schemeClr val="tx2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>
                        <a:defRPr>
                          <a:latin typeface="Arial"/>
                        </a:defRPr>
                      </a:pPr>
                      <a:endParaRPr lang="de-DE">
                        <a:latin typeface="Arial"/>
                        <a:ea typeface="Arial"/>
                        <a:cs typeface="Arial"/>
                      </a:endParaRPr>
                    </a:p>
                  </p:txBody>
                </p:sp>
                <p:cxnSp>
                  <p:nvCxnSpPr>
                    <p:cNvPr id="58" name="Gerader Verbinder 63">
                      <a:extLst>
                        <a:ext uri="{FF2B5EF4-FFF2-40B4-BE49-F238E27FC236}">
                          <a16:creationId xmlns:a16="http://schemas.microsoft.com/office/drawing/2014/main" id="{A256BC99-0E42-4754-965D-7B3FA8A0C08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76966" y="2897184"/>
                      <a:ext cx="1749498" cy="0"/>
                    </a:xfrm>
                    <a:prstGeom prst="line">
                      <a:avLst/>
                    </a:prstGeom>
                    <a:ln w="254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9" name="Gerader Verbinder 64">
                      <a:extLst>
                        <a:ext uri="{FF2B5EF4-FFF2-40B4-BE49-F238E27FC236}">
                          <a16:creationId xmlns:a16="http://schemas.microsoft.com/office/drawing/2014/main" id="{5289F5BE-F4EA-47F7-ACC6-A5604E226B3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2761659" y="3967701"/>
                      <a:ext cx="1749498" cy="0"/>
                    </a:xfrm>
                    <a:prstGeom prst="line">
                      <a:avLst/>
                    </a:prstGeom>
                    <a:ln w="25400">
                      <a:solidFill>
                        <a:schemeClr val="tx2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60" name="Trapezoid 61">
                    <a:extLst>
                      <a:ext uri="{FF2B5EF4-FFF2-40B4-BE49-F238E27FC236}">
                        <a16:creationId xmlns:a16="http://schemas.microsoft.com/office/drawing/2014/main" id="{D0EF88BF-0FBA-48A2-94C1-FF367B212507}"/>
                      </a:ext>
                    </a:extLst>
                  </p:cNvPr>
                  <p:cNvSpPr/>
                  <p:nvPr/>
                </p:nvSpPr>
                <p:spPr>
                  <a:xfrm rot="16200000" flipH="1">
                    <a:off x="1960622" y="3171179"/>
                    <a:ext cx="1088770" cy="530885"/>
                  </a:xfrm>
                  <a:prstGeom prst="trapezoid">
                    <a:avLst>
                      <a:gd name="adj" fmla="val 76855"/>
                    </a:avLst>
                  </a:prstGeom>
                  <a:noFill/>
                  <a:ln w="25400">
                    <a:solidFill>
                      <a:schemeClr val="tx2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>
                      <a:defRPr>
                        <a:latin typeface="Arial"/>
                      </a:defRPr>
                    </a:pPr>
                    <a:endParaRPr lang="de-DE">
                      <a:latin typeface="Arial"/>
                      <a:ea typeface="Arial"/>
                      <a:cs typeface="Arial"/>
                    </a:endParaRPr>
                  </a:p>
                </p:txBody>
              </p:sp>
            </p:grpSp>
            <p:cxnSp>
              <p:nvCxnSpPr>
                <p:cNvPr id="61" name="Gerader Verbinder 57">
                  <a:extLst>
                    <a:ext uri="{FF2B5EF4-FFF2-40B4-BE49-F238E27FC236}">
                      <a16:creationId xmlns:a16="http://schemas.microsoft.com/office/drawing/2014/main" id="{370DA309-BBE3-4202-8924-C839BC910B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363430" y="5154424"/>
                  <a:ext cx="0" cy="1075465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Gerader Verbinder 58">
                  <a:extLst>
                    <a:ext uri="{FF2B5EF4-FFF2-40B4-BE49-F238E27FC236}">
                      <a16:creationId xmlns:a16="http://schemas.microsoft.com/office/drawing/2014/main" id="{6136BC73-1A17-4760-B57A-1E8C1585D4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949547" y="5167730"/>
                  <a:ext cx="0" cy="1075465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3" name="Rechteck: abgerundete Ecken 48">
                <a:extLst>
                  <a:ext uri="{FF2B5EF4-FFF2-40B4-BE49-F238E27FC236}">
                    <a16:creationId xmlns:a16="http://schemas.microsoft.com/office/drawing/2014/main" id="{8F548782-836D-442F-8CCA-0233697C2A64}"/>
                  </a:ext>
                </a:extLst>
              </p:cNvPr>
              <p:cNvSpPr/>
              <p:nvPr/>
            </p:nvSpPr>
            <p:spPr>
              <a:xfrm>
                <a:off x="4438096" y="4775544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4" name="Rechteck: abgerundete Ecken 49">
                <a:extLst>
                  <a:ext uri="{FF2B5EF4-FFF2-40B4-BE49-F238E27FC236}">
                    <a16:creationId xmlns:a16="http://schemas.microsoft.com/office/drawing/2014/main" id="{D44E3291-ED30-4DFC-95FC-54807DE9B2E1}"/>
                  </a:ext>
                </a:extLst>
              </p:cNvPr>
              <p:cNvSpPr/>
              <p:nvPr/>
            </p:nvSpPr>
            <p:spPr>
              <a:xfrm>
                <a:off x="2695423" y="4786378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5" name="Rechteck: abgerundete Ecken 50">
                <a:extLst>
                  <a:ext uri="{FF2B5EF4-FFF2-40B4-BE49-F238E27FC236}">
                    <a16:creationId xmlns:a16="http://schemas.microsoft.com/office/drawing/2014/main" id="{95BE52AC-BC97-4916-B845-960C65FBA7FF}"/>
                  </a:ext>
                </a:extLst>
              </p:cNvPr>
              <p:cNvSpPr/>
              <p:nvPr/>
            </p:nvSpPr>
            <p:spPr>
              <a:xfrm>
                <a:off x="4438096" y="6407241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sp>
            <p:nvSpPr>
              <p:cNvPr id="66" name="Rechteck: abgerundete Ecken 51">
                <a:extLst>
                  <a:ext uri="{FF2B5EF4-FFF2-40B4-BE49-F238E27FC236}">
                    <a16:creationId xmlns:a16="http://schemas.microsoft.com/office/drawing/2014/main" id="{C6EB283E-5FB8-433E-95FF-B157F448AAA6}"/>
                  </a:ext>
                </a:extLst>
              </p:cNvPr>
              <p:cNvSpPr/>
              <p:nvPr/>
            </p:nvSpPr>
            <p:spPr>
              <a:xfrm>
                <a:off x="2695423" y="6402543"/>
                <a:ext cx="194400" cy="194400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grpSp>
            <p:nvGrpSpPr>
              <p:cNvPr id="67" name="Gruppieren 52">
                <a:extLst>
                  <a:ext uri="{FF2B5EF4-FFF2-40B4-BE49-F238E27FC236}">
                    <a16:creationId xmlns:a16="http://schemas.microsoft.com/office/drawing/2014/main" id="{0648BCC9-CF04-49C2-886B-595FA8D5813A}"/>
                  </a:ext>
                </a:extLst>
              </p:cNvPr>
              <p:cNvGrpSpPr/>
              <p:nvPr/>
            </p:nvGrpSpPr>
            <p:grpSpPr>
              <a:xfrm>
                <a:off x="3366379" y="5159372"/>
                <a:ext cx="579910" cy="1075466"/>
                <a:chOff x="3357056" y="2909271"/>
                <a:chExt cx="579910" cy="1075466"/>
              </a:xfrm>
            </p:grpSpPr>
            <p:sp>
              <p:nvSpPr>
                <p:cNvPr id="68" name="Rechteck: abgerundete Ecken 53">
                  <a:extLst>
                    <a:ext uri="{FF2B5EF4-FFF2-40B4-BE49-F238E27FC236}">
                      <a16:creationId xmlns:a16="http://schemas.microsoft.com/office/drawing/2014/main" id="{78E0D181-A9F3-468B-823D-8FAE0F32F337}"/>
                    </a:ext>
                  </a:extLst>
                </p:cNvPr>
                <p:cNvSpPr/>
                <p:nvPr/>
              </p:nvSpPr>
              <p:spPr>
                <a:xfrm>
                  <a:off x="3357056" y="3087856"/>
                  <a:ext cx="452128" cy="740243"/>
                </a:xfrm>
                <a:prstGeom prst="roundRect">
                  <a:avLst/>
                </a:prstGeom>
                <a:noFill/>
                <a:ln w="254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cxnSp>
              <p:nvCxnSpPr>
                <p:cNvPr id="69" name="Gerader Verbinder 54">
                  <a:extLst>
                    <a:ext uri="{FF2B5EF4-FFF2-40B4-BE49-F238E27FC236}">
                      <a16:creationId xmlns:a16="http://schemas.microsoft.com/office/drawing/2014/main" id="{1D5D9B41-E153-4E57-A3F7-3B75A9F4EA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783567" y="2909271"/>
                  <a:ext cx="153399" cy="206951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Gerader Verbinder 55">
                  <a:extLst>
                    <a:ext uri="{FF2B5EF4-FFF2-40B4-BE49-F238E27FC236}">
                      <a16:creationId xmlns:a16="http://schemas.microsoft.com/office/drawing/2014/main" id="{BDDA627A-6651-4A73-BA7D-A621CBBD4B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783567" y="3820204"/>
                  <a:ext cx="153398" cy="164533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1" name="Textfeld 65">
              <a:extLst>
                <a:ext uri="{FF2B5EF4-FFF2-40B4-BE49-F238E27FC236}">
                  <a16:creationId xmlns:a16="http://schemas.microsoft.com/office/drawing/2014/main" id="{271491C6-0D2F-4684-83E9-C5A831CEE503}"/>
                </a:ext>
              </a:extLst>
            </p:cNvPr>
            <p:cNvSpPr txBox="1"/>
            <p:nvPr/>
          </p:nvSpPr>
          <p:spPr>
            <a:xfrm>
              <a:off x="6005388" y="6061988"/>
              <a:ext cx="18758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rial"/>
                  <a:ea typeface="Arial"/>
                  <a:cs typeface="Arial"/>
                </a:rPr>
                <a:t>Frame mit Aufbau</a:t>
              </a:r>
            </a:p>
          </p:txBody>
        </p:sp>
        <p:grpSp>
          <p:nvGrpSpPr>
            <p:cNvPr id="72" name="Gruppieren 66">
              <a:extLst>
                <a:ext uri="{FF2B5EF4-FFF2-40B4-BE49-F238E27FC236}">
                  <a16:creationId xmlns:a16="http://schemas.microsoft.com/office/drawing/2014/main" id="{00A6A7DC-306A-4B51-9950-0049D8BB20DF}"/>
                </a:ext>
              </a:extLst>
            </p:cNvPr>
            <p:cNvGrpSpPr/>
            <p:nvPr/>
          </p:nvGrpSpPr>
          <p:grpSpPr>
            <a:xfrm>
              <a:off x="611560" y="4077072"/>
              <a:ext cx="4388309" cy="1965068"/>
              <a:chOff x="1197306" y="4017330"/>
              <a:chExt cx="4388309" cy="1965068"/>
            </a:xfrm>
          </p:grpSpPr>
          <p:sp>
            <p:nvSpPr>
              <p:cNvPr id="73" name="Bogen 68">
                <a:extLst>
                  <a:ext uri="{FF2B5EF4-FFF2-40B4-BE49-F238E27FC236}">
                    <a16:creationId xmlns:a16="http://schemas.microsoft.com/office/drawing/2014/main" id="{5DDEB9B3-5FFB-4C2E-815B-8115CA20654E}"/>
                  </a:ext>
                </a:extLst>
              </p:cNvPr>
              <p:cNvSpPr/>
              <p:nvPr/>
            </p:nvSpPr>
            <p:spPr>
              <a:xfrm flipV="1">
                <a:off x="2063777" y="4332957"/>
                <a:ext cx="3521838" cy="1150687"/>
              </a:xfrm>
              <a:prstGeom prst="arc">
                <a:avLst>
                  <a:gd name="adj1" fmla="val 15018144"/>
                  <a:gd name="adj2" fmla="val 21573609"/>
                </a:avLst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grpSp>
            <p:nvGrpSpPr>
              <p:cNvPr id="74" name="Gruppieren 69">
                <a:extLst>
                  <a:ext uri="{FF2B5EF4-FFF2-40B4-BE49-F238E27FC236}">
                    <a16:creationId xmlns:a16="http://schemas.microsoft.com/office/drawing/2014/main" id="{CDACD22F-CFAA-425D-90C5-4C21FD1654C6}"/>
                  </a:ext>
                </a:extLst>
              </p:cNvPr>
              <p:cNvGrpSpPr/>
              <p:nvPr/>
            </p:nvGrpSpPr>
            <p:grpSpPr>
              <a:xfrm>
                <a:off x="1915852" y="4729163"/>
                <a:ext cx="703057" cy="190948"/>
                <a:chOff x="4449965" y="3378749"/>
                <a:chExt cx="703057" cy="190948"/>
              </a:xfrm>
            </p:grpSpPr>
            <p:sp>
              <p:nvSpPr>
                <p:cNvPr id="75" name="Flussdiagramm: Manuelle Verarbeitung 85">
                  <a:extLst>
                    <a:ext uri="{FF2B5EF4-FFF2-40B4-BE49-F238E27FC236}">
                      <a16:creationId xmlns:a16="http://schemas.microsoft.com/office/drawing/2014/main" id="{8881DA6F-44C8-4668-8D1C-F4DA495D7129}"/>
                    </a:ext>
                  </a:extLst>
                </p:cNvPr>
                <p:cNvSpPr/>
                <p:nvPr/>
              </p:nvSpPr>
              <p:spPr>
                <a:xfrm flipV="1">
                  <a:off x="4449965" y="3378749"/>
                  <a:ext cx="703057" cy="190948"/>
                </a:xfrm>
                <a:prstGeom prst="flowChartManualOperation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76" name="Ellipse 86">
                  <a:extLst>
                    <a:ext uri="{FF2B5EF4-FFF2-40B4-BE49-F238E27FC236}">
                      <a16:creationId xmlns:a16="http://schemas.microsoft.com/office/drawing/2014/main" id="{FDC56C19-42E1-4F05-8136-FFBBA7E97DD0}"/>
                    </a:ext>
                  </a:extLst>
                </p:cNvPr>
                <p:cNvSpPr/>
                <p:nvPr/>
              </p:nvSpPr>
              <p:spPr>
                <a:xfrm>
                  <a:off x="4761014" y="3429000"/>
                  <a:ext cx="80958" cy="828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</p:grpSp>
          <p:grpSp>
            <p:nvGrpSpPr>
              <p:cNvPr id="77" name="Gruppieren 70">
                <a:extLst>
                  <a:ext uri="{FF2B5EF4-FFF2-40B4-BE49-F238E27FC236}">
                    <a16:creationId xmlns:a16="http://schemas.microsoft.com/office/drawing/2014/main" id="{3497F534-1122-447D-BE72-F3EBD913C893}"/>
                  </a:ext>
                </a:extLst>
              </p:cNvPr>
              <p:cNvGrpSpPr/>
              <p:nvPr/>
            </p:nvGrpSpPr>
            <p:grpSpPr>
              <a:xfrm>
                <a:off x="3646446" y="4732852"/>
                <a:ext cx="703057" cy="190948"/>
                <a:chOff x="4449965" y="3378749"/>
                <a:chExt cx="703057" cy="190948"/>
              </a:xfrm>
            </p:grpSpPr>
            <p:sp>
              <p:nvSpPr>
                <p:cNvPr id="78" name="Flussdiagramm: Manuelle Verarbeitung 83">
                  <a:extLst>
                    <a:ext uri="{FF2B5EF4-FFF2-40B4-BE49-F238E27FC236}">
                      <a16:creationId xmlns:a16="http://schemas.microsoft.com/office/drawing/2014/main" id="{B29FC5DA-5101-407B-B9D9-BD96DE37518F}"/>
                    </a:ext>
                  </a:extLst>
                </p:cNvPr>
                <p:cNvSpPr/>
                <p:nvPr/>
              </p:nvSpPr>
              <p:spPr>
                <a:xfrm flipV="1">
                  <a:off x="4449965" y="3378749"/>
                  <a:ext cx="703057" cy="190948"/>
                </a:xfrm>
                <a:prstGeom prst="flowChartManualOperation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79" name="Ellipse 84">
                  <a:extLst>
                    <a:ext uri="{FF2B5EF4-FFF2-40B4-BE49-F238E27FC236}">
                      <a16:creationId xmlns:a16="http://schemas.microsoft.com/office/drawing/2014/main" id="{715A3090-82CD-42A2-A4FE-EBB0B37F6595}"/>
                    </a:ext>
                  </a:extLst>
                </p:cNvPr>
                <p:cNvSpPr/>
                <p:nvPr/>
              </p:nvSpPr>
              <p:spPr>
                <a:xfrm>
                  <a:off x="4761014" y="3429000"/>
                  <a:ext cx="80958" cy="828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</p:grpSp>
          <p:sp>
            <p:nvSpPr>
              <p:cNvPr id="80" name="Bogen 71">
                <a:extLst>
                  <a:ext uri="{FF2B5EF4-FFF2-40B4-BE49-F238E27FC236}">
                    <a16:creationId xmlns:a16="http://schemas.microsoft.com/office/drawing/2014/main" id="{2C30E3A0-C632-460B-AFC0-7E8762216DC8}"/>
                  </a:ext>
                </a:extLst>
              </p:cNvPr>
              <p:cNvSpPr/>
              <p:nvPr/>
            </p:nvSpPr>
            <p:spPr>
              <a:xfrm flipH="1" flipV="1">
                <a:off x="1197306" y="4832203"/>
                <a:ext cx="1070074" cy="651439"/>
              </a:xfrm>
              <a:prstGeom prst="arc">
                <a:avLst>
                  <a:gd name="adj1" fmla="val 16127484"/>
                  <a:gd name="adj2" fmla="val 21573609"/>
                </a:avLst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>
                  <a:defRPr>
                    <a:latin typeface="Arial"/>
                  </a:defRPr>
                </a:pPr>
                <a:endParaRPr lang="de-DE">
                  <a:latin typeface="Arial"/>
                  <a:ea typeface="Arial"/>
                  <a:cs typeface="Arial"/>
                </a:endParaRPr>
              </a:p>
            </p:txBody>
          </p:sp>
          <p:cxnSp>
            <p:nvCxnSpPr>
              <p:cNvPr id="81" name="Gerader Verbinder 72">
                <a:extLst>
                  <a:ext uri="{FF2B5EF4-FFF2-40B4-BE49-F238E27FC236}">
                    <a16:creationId xmlns:a16="http://schemas.microsoft.com/office/drawing/2014/main" id="{235D0E78-720F-48F8-9410-254F34F8421C}"/>
                  </a:ext>
                </a:extLst>
              </p:cNvPr>
              <p:cNvCxnSpPr>
                <a:cxnSpLocks/>
                <a:stCxn id="72" idx="0"/>
                <a:endCxn id="69" idx="0"/>
              </p:cNvCxnSpPr>
              <p:nvPr/>
            </p:nvCxnSpPr>
            <p:spPr>
              <a:xfrm flipV="1">
                <a:off x="1739214" y="5479748"/>
                <a:ext cx="1880901" cy="3867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r Verbinder 73">
                <a:extLst>
                  <a:ext uri="{FF2B5EF4-FFF2-40B4-BE49-F238E27FC236}">
                    <a16:creationId xmlns:a16="http://schemas.microsoft.com/office/drawing/2014/main" id="{4E1C9607-5699-413B-8E43-4D3441260D04}"/>
                  </a:ext>
                </a:extLst>
              </p:cNvPr>
              <p:cNvCxnSpPr/>
              <p:nvPr/>
            </p:nvCxnSpPr>
            <p:spPr>
              <a:xfrm flipH="1">
                <a:off x="1197306" y="4918391"/>
                <a:ext cx="4388309" cy="0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r Verbinder 74">
                <a:extLst>
                  <a:ext uri="{FF2B5EF4-FFF2-40B4-BE49-F238E27FC236}">
                    <a16:creationId xmlns:a16="http://schemas.microsoft.com/office/drawing/2014/main" id="{75E260F8-5359-4D37-8ACE-659940113B5F}"/>
                  </a:ext>
                </a:extLst>
              </p:cNvPr>
              <p:cNvCxnSpPr/>
              <p:nvPr/>
            </p:nvCxnSpPr>
            <p:spPr>
              <a:xfrm flipV="1">
                <a:off x="1197306" y="4918391"/>
                <a:ext cx="0" cy="243242"/>
              </a:xfrm>
              <a:prstGeom prst="line">
                <a:avLst/>
              </a:prstGeom>
              <a:ln w="25400">
                <a:solidFill>
                  <a:schemeClr val="accent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4" name="Gruppieren 75">
                <a:extLst>
                  <a:ext uri="{FF2B5EF4-FFF2-40B4-BE49-F238E27FC236}">
                    <a16:creationId xmlns:a16="http://schemas.microsoft.com/office/drawing/2014/main" id="{107234F0-A533-4AE1-B2B3-4910EAB5519B}"/>
                  </a:ext>
                </a:extLst>
              </p:cNvPr>
              <p:cNvGrpSpPr/>
              <p:nvPr/>
            </p:nvGrpSpPr>
            <p:grpSpPr>
              <a:xfrm>
                <a:off x="1746269" y="4538901"/>
                <a:ext cx="2808685" cy="186640"/>
                <a:chOff x="1842468" y="3950571"/>
                <a:chExt cx="2808685" cy="186640"/>
              </a:xfrm>
            </p:grpSpPr>
            <p:cxnSp>
              <p:nvCxnSpPr>
                <p:cNvPr id="85" name="Gerader Verbinder 78">
                  <a:extLst>
                    <a:ext uri="{FF2B5EF4-FFF2-40B4-BE49-F238E27FC236}">
                      <a16:creationId xmlns:a16="http://schemas.microsoft.com/office/drawing/2014/main" id="{5544927B-D0D7-4C6D-84F6-BBFFB53CCC38}"/>
                    </a:ext>
                  </a:extLst>
                </p:cNvPr>
                <p:cNvCxnSpPr>
                  <a:stCxn id="81" idx="0"/>
                </p:cNvCxnSpPr>
                <p:nvPr/>
              </p:nvCxnSpPr>
              <p:spPr>
                <a:xfrm flipH="1" flipV="1">
                  <a:off x="2370336" y="3950571"/>
                  <a:ext cx="1" cy="135653"/>
                </a:xfrm>
                <a:prstGeom prst="line">
                  <a:avLst/>
                </a:prstGeom>
                <a:ln w="254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6" name="Rechteck 79">
                  <a:extLst>
                    <a:ext uri="{FF2B5EF4-FFF2-40B4-BE49-F238E27FC236}">
                      <a16:creationId xmlns:a16="http://schemas.microsoft.com/office/drawing/2014/main" id="{CDFFEA14-EF24-4442-A1AA-DDACD18E1EEF}"/>
                    </a:ext>
                  </a:extLst>
                </p:cNvPr>
                <p:cNvSpPr/>
                <p:nvPr/>
              </p:nvSpPr>
              <p:spPr>
                <a:xfrm>
                  <a:off x="3982768" y="4088528"/>
                  <a:ext cx="209367" cy="48683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254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sp>
              <p:nvSpPr>
                <p:cNvPr id="87" name="Rechteck 80">
                  <a:extLst>
                    <a:ext uri="{FF2B5EF4-FFF2-40B4-BE49-F238E27FC236}">
                      <a16:creationId xmlns:a16="http://schemas.microsoft.com/office/drawing/2014/main" id="{2786627B-BFE1-423F-A310-016EB277D151}"/>
                    </a:ext>
                  </a:extLst>
                </p:cNvPr>
                <p:cNvSpPr/>
                <p:nvPr/>
              </p:nvSpPr>
              <p:spPr>
                <a:xfrm>
                  <a:off x="2265653" y="4086224"/>
                  <a:ext cx="209367" cy="48683"/>
                </a:xfrm>
                <a:prstGeom prst="rect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 w="254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>
                    <a:defRPr>
                      <a:latin typeface="Arial"/>
                    </a:defRPr>
                  </a:pPr>
                  <a:endParaRPr lang="de-DE">
                    <a:latin typeface="Arial"/>
                    <a:ea typeface="Arial"/>
                    <a:cs typeface="Arial"/>
                  </a:endParaRPr>
                </a:p>
              </p:txBody>
            </p:sp>
            <p:cxnSp>
              <p:nvCxnSpPr>
                <p:cNvPr id="88" name="Gerader Verbinder 81">
                  <a:extLst>
                    <a:ext uri="{FF2B5EF4-FFF2-40B4-BE49-F238E27FC236}">
                      <a16:creationId xmlns:a16="http://schemas.microsoft.com/office/drawing/2014/main" id="{A68A88A6-F849-4108-A166-3808A687AD1E}"/>
                    </a:ext>
                  </a:extLst>
                </p:cNvPr>
                <p:cNvCxnSpPr/>
                <p:nvPr/>
              </p:nvCxnSpPr>
              <p:spPr>
                <a:xfrm flipH="1" flipV="1">
                  <a:off x="4078731" y="3952875"/>
                  <a:ext cx="1" cy="135653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9" name="Gerader Verbinder 82">
                  <a:extLst>
                    <a:ext uri="{FF2B5EF4-FFF2-40B4-BE49-F238E27FC236}">
                      <a16:creationId xmlns:a16="http://schemas.microsoft.com/office/drawing/2014/main" id="{836F5E78-5E49-4EC9-AA1E-94DA1F35F4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842468" y="3955325"/>
                  <a:ext cx="2808685" cy="13305"/>
                </a:xfrm>
                <a:prstGeom prst="line">
                  <a:avLst/>
                </a:prstGeom>
                <a:ln w="25400">
                  <a:solidFill>
                    <a:schemeClr val="tx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0" name="Gerader Verbinder 76">
                <a:extLst>
                  <a:ext uri="{FF2B5EF4-FFF2-40B4-BE49-F238E27FC236}">
                    <a16:creationId xmlns:a16="http://schemas.microsoft.com/office/drawing/2014/main" id="{3D59F9DC-24ED-4C66-9B76-C536DB5C70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38643" y="4018868"/>
                <a:ext cx="452128" cy="0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Gerader Verbinder 77">
                <a:extLst>
                  <a:ext uri="{FF2B5EF4-FFF2-40B4-BE49-F238E27FC236}">
                    <a16:creationId xmlns:a16="http://schemas.microsoft.com/office/drawing/2014/main" id="{C82186AE-D62A-491D-8391-7A708FA781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89703" y="4017330"/>
                <a:ext cx="130729" cy="521571"/>
              </a:xfrm>
              <a:prstGeom prst="line">
                <a:avLst/>
              </a:prstGeom>
              <a:ln w="25400"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Textfeld 87">
              <a:extLst>
                <a:ext uri="{FF2B5EF4-FFF2-40B4-BE49-F238E27FC236}">
                  <a16:creationId xmlns:a16="http://schemas.microsoft.com/office/drawing/2014/main" id="{3F1EBD66-66DF-496F-B603-8860F173BB05}"/>
                </a:ext>
              </a:extLst>
            </p:cNvPr>
            <p:cNvSpPr txBox="1"/>
            <p:nvPr/>
          </p:nvSpPr>
          <p:spPr>
            <a:xfrm>
              <a:off x="2157549" y="721337"/>
              <a:ext cx="6960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rial"/>
                  <a:ea typeface="Arial"/>
                  <a:cs typeface="Arial"/>
                </a:rPr>
                <a:t>Oben</a:t>
              </a:r>
            </a:p>
          </p:txBody>
        </p:sp>
        <p:sp>
          <p:nvSpPr>
            <p:cNvPr id="93" name="Rechteck 88">
              <a:extLst>
                <a:ext uri="{FF2B5EF4-FFF2-40B4-BE49-F238E27FC236}">
                  <a16:creationId xmlns:a16="http://schemas.microsoft.com/office/drawing/2014/main" id="{0096C844-31C5-46EE-B388-81A19E011D66}"/>
                </a:ext>
              </a:extLst>
            </p:cNvPr>
            <p:cNvSpPr/>
            <p:nvPr/>
          </p:nvSpPr>
          <p:spPr>
            <a:xfrm>
              <a:off x="5774206" y="2240410"/>
              <a:ext cx="510991" cy="511200"/>
            </a:xfrm>
            <a:prstGeom prst="rect">
              <a:avLst/>
            </a:pr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Arial"/>
                </a:defRPr>
              </a:pPr>
              <a:endParaRPr lang="de-DE"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4" name="Gerader Verbinder 89">
              <a:extLst>
                <a:ext uri="{FF2B5EF4-FFF2-40B4-BE49-F238E27FC236}">
                  <a16:creationId xmlns:a16="http://schemas.microsoft.com/office/drawing/2014/main" id="{082ED08F-981D-4303-AE46-4CF29E5EED4A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6839665" y="1247558"/>
              <a:ext cx="0" cy="162851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echteck 90">
              <a:extLst>
                <a:ext uri="{FF2B5EF4-FFF2-40B4-BE49-F238E27FC236}">
                  <a16:creationId xmlns:a16="http://schemas.microsoft.com/office/drawing/2014/main" id="{873FE1DD-BCA3-4816-876A-CB92D69DAF5C}"/>
                </a:ext>
              </a:extLst>
            </p:cNvPr>
            <p:cNvSpPr/>
            <p:nvPr/>
          </p:nvSpPr>
          <p:spPr>
            <a:xfrm>
              <a:off x="7398427" y="2243187"/>
              <a:ext cx="510991" cy="511200"/>
            </a:xfrm>
            <a:prstGeom prst="rect">
              <a:avLst/>
            </a:pr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Arial"/>
                </a:defRPr>
              </a:pPr>
              <a:endParaRPr lang="de-DE">
                <a:latin typeface="Arial"/>
                <a:ea typeface="Arial"/>
                <a:cs typeface="Arial"/>
              </a:endParaRPr>
            </a:p>
          </p:txBody>
        </p:sp>
        <p:sp>
          <p:nvSpPr>
            <p:cNvPr id="96" name="Rechteck 91">
              <a:extLst>
                <a:ext uri="{FF2B5EF4-FFF2-40B4-BE49-F238E27FC236}">
                  <a16:creationId xmlns:a16="http://schemas.microsoft.com/office/drawing/2014/main" id="{4F3B349C-B12A-4FCC-8E3E-2785655BB34E}"/>
                </a:ext>
              </a:extLst>
            </p:cNvPr>
            <p:cNvSpPr/>
            <p:nvPr/>
          </p:nvSpPr>
          <p:spPr>
            <a:xfrm>
              <a:off x="5930226" y="2059708"/>
              <a:ext cx="193154" cy="178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Arial"/>
                </a:defRPr>
              </a:pPr>
              <a:endParaRPr lang="de-DE">
                <a:latin typeface="Arial"/>
                <a:ea typeface="Arial"/>
                <a:cs typeface="Arial"/>
              </a:endParaRPr>
            </a:p>
          </p:txBody>
        </p:sp>
        <p:sp>
          <p:nvSpPr>
            <p:cNvPr id="97" name="Rechteck 92">
              <a:extLst>
                <a:ext uri="{FF2B5EF4-FFF2-40B4-BE49-F238E27FC236}">
                  <a16:creationId xmlns:a16="http://schemas.microsoft.com/office/drawing/2014/main" id="{42524414-A3C1-41BE-ABEB-3509F1275265}"/>
                </a:ext>
              </a:extLst>
            </p:cNvPr>
            <p:cNvSpPr/>
            <p:nvPr/>
          </p:nvSpPr>
          <p:spPr>
            <a:xfrm>
              <a:off x="7557346" y="2067972"/>
              <a:ext cx="193154" cy="178228"/>
            </a:xfrm>
            <a:prstGeom prst="rect">
              <a:avLst/>
            </a:prstGeom>
            <a:noFill/>
            <a:ln w="254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>
                  <a:latin typeface="Arial"/>
                </a:defRPr>
              </a:pPr>
              <a:endParaRPr lang="de-DE">
                <a:latin typeface="Arial"/>
                <a:ea typeface="Arial"/>
                <a:cs typeface="Arial"/>
              </a:endParaRPr>
            </a:p>
          </p:txBody>
        </p:sp>
        <p:cxnSp>
          <p:nvCxnSpPr>
            <p:cNvPr id="98" name="Gerader Verbinder 93">
              <a:extLst>
                <a:ext uri="{FF2B5EF4-FFF2-40B4-BE49-F238E27FC236}">
                  <a16:creationId xmlns:a16="http://schemas.microsoft.com/office/drawing/2014/main" id="{DCD84D2B-677A-4CC6-8CB5-AC5C5A3975A8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6839354" y="1164643"/>
              <a:ext cx="0" cy="740243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Gerader Verbinder 94">
              <a:extLst>
                <a:ext uri="{FF2B5EF4-FFF2-40B4-BE49-F238E27FC236}">
                  <a16:creationId xmlns:a16="http://schemas.microsoft.com/office/drawing/2014/main" id="{25932389-8834-44A8-A96D-3CA827EC6032}"/>
                </a:ext>
              </a:extLst>
            </p:cNvPr>
            <p:cNvCxnSpPr/>
            <p:nvPr/>
          </p:nvCxnSpPr>
          <p:spPr>
            <a:xfrm flipV="1">
              <a:off x="6285197" y="1534764"/>
              <a:ext cx="184035" cy="517925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Gerader Verbinder 95">
              <a:extLst>
                <a:ext uri="{FF2B5EF4-FFF2-40B4-BE49-F238E27FC236}">
                  <a16:creationId xmlns:a16="http://schemas.microsoft.com/office/drawing/2014/main" id="{5A33758F-8790-4F97-8614-4C2DA0AA3D8C}"/>
                </a:ext>
              </a:extLst>
            </p:cNvPr>
            <p:cNvCxnSpPr/>
            <p:nvPr/>
          </p:nvCxnSpPr>
          <p:spPr>
            <a:xfrm flipH="1" flipV="1">
              <a:off x="7209476" y="1543016"/>
              <a:ext cx="188951" cy="516692"/>
            </a:xfrm>
            <a:prstGeom prst="line">
              <a:avLst/>
            </a:prstGeom>
            <a:ln w="254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Textfeld 96">
              <a:extLst>
                <a:ext uri="{FF2B5EF4-FFF2-40B4-BE49-F238E27FC236}">
                  <a16:creationId xmlns:a16="http://schemas.microsoft.com/office/drawing/2014/main" id="{C046E523-4705-4E7B-B164-E098B93FFE5B}"/>
                </a:ext>
              </a:extLst>
            </p:cNvPr>
            <p:cNvSpPr txBox="1"/>
            <p:nvPr/>
          </p:nvSpPr>
          <p:spPr>
            <a:xfrm>
              <a:off x="6537320" y="2930380"/>
              <a:ext cx="7456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dirty="0">
                  <a:latin typeface="Arial"/>
                  <a:ea typeface="Arial"/>
                  <a:cs typeface="Arial"/>
                </a:rPr>
                <a:t>Vorne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5746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1DD9FECD-B4D2-4F4D-9E1C-DE882199663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Rahmenkonstruktion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02C82FE-517C-420C-9BCA-A1049D934EC7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61F05CAB-4EA1-418C-A4C6-B90FB00A3DF3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02719" y="1285875"/>
            <a:ext cx="6786563" cy="4524375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4670E12F-ACA6-4537-BBD8-B5121A781E63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Konstruktionsansicht des Modell-USV</a:t>
            </a:r>
          </a:p>
        </p:txBody>
      </p:sp>
    </p:spTree>
    <p:extLst>
      <p:ext uri="{BB962C8B-B14F-4D97-AF65-F5344CB8AC3E}">
        <p14:creationId xmlns:p14="http://schemas.microsoft.com/office/powerpoint/2010/main" val="1022761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06EFC3FF-6DEB-4C3D-BB02-3B11F43FA94B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Modell mit montiertem Rahmen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F4F559E7-513B-413F-BE6F-674ACB196544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02F2334F-13A4-431F-90DB-F37D27388FB6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51362" y="1333500"/>
            <a:ext cx="5889276" cy="4429125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874A5043-607F-4A87-9F69-8C762D5ADE2F}"/>
              </a:ext>
            </a:extLst>
          </p:cNvPr>
          <p:cNvSpPr>
            <a:spLocks noGrp="1"/>
          </p:cNvSpPr>
          <p:nvPr/>
        </p:nvSpPr>
        <p:spPr>
          <a:xfrm>
            <a:off x="609600" y="59055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Vorhandener Modellaufbau als Ausgangspunkt der Projektarbeit</a:t>
            </a:r>
          </a:p>
        </p:txBody>
      </p:sp>
    </p:spTree>
    <p:extLst>
      <p:ext uri="{BB962C8B-B14F-4D97-AF65-F5344CB8AC3E}">
        <p14:creationId xmlns:p14="http://schemas.microsoft.com/office/powerpoint/2010/main" val="1923560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187EB14D-80AD-41C8-BAC9-9F282FBEB5D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Steuerung und Navigationssensoren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A46C201B-15D3-4D20-B139-29B12746619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E5C5C181-89AA-4F9A-AA80-D818CBE07632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5" name="Grafik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9125" y="1485900"/>
            <a:ext cx="4953000" cy="1981200"/>
          </a:xfrm>
          <a:prstGeom prst="rect">
            <a:avLst/>
          </a:prstGeom>
        </p:spPr>
      </p:pic>
      <p:pic>
        <p:nvPicPr>
          <p:cNvPr id="16" name="Grafik 1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86500" y="1476375"/>
            <a:ext cx="1809750" cy="180975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BC7BF05D-AA54-405A-8916-7EFC23700318}"/>
              </a:ext>
            </a:extLst>
          </p:cNvPr>
          <p:cNvSpPr>
            <a:spLocks noGrp="1"/>
          </p:cNvSpPr>
          <p:nvPr/>
        </p:nvSpPr>
        <p:spPr>
          <a:xfrm>
            <a:off x="8334375" y="1666875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DroneCAN RM3100</a:t>
            </a:r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E0EB7AB7-B0FB-41F3-B19E-EA0A4825A92A}"/>
              </a:ext>
            </a:extLst>
          </p:cNvPr>
          <p:cNvSpPr>
            <a:spLocks noGrp="1"/>
          </p:cNvSpPr>
          <p:nvPr/>
        </p:nvSpPr>
        <p:spPr>
          <a:xfrm>
            <a:off x="8334375" y="2143125"/>
            <a:ext cx="333375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Kompass, Schutzart IP66</a:t>
            </a:r>
          </a:p>
        </p:txBody>
      </p:sp>
      <p:pic>
        <p:nvPicPr>
          <p:cNvPr id="19" name="Grafik 1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238875" y="3786188"/>
            <a:ext cx="1857375" cy="1857375"/>
          </a:xfrm>
          <a:prstGeom prst="rect">
            <a:avLst/>
          </a:prstGeom>
        </p:spPr>
      </p:pic>
      <p:sp>
        <p:nvSpPr>
          <p:cNvPr id="9" name="Rechteck 8">
            <a:extLst>
              <a:ext uri="{FF2B5EF4-FFF2-40B4-BE49-F238E27FC236}">
                <a16:creationId xmlns:a16="http://schemas.microsoft.com/office/drawing/2014/main" id="{EB2647CD-FE70-41D1-B2C0-74E7057D15D5}"/>
              </a:ext>
            </a:extLst>
          </p:cNvPr>
          <p:cNvSpPr>
            <a:spLocks noGrp="1"/>
          </p:cNvSpPr>
          <p:nvPr/>
        </p:nvSpPr>
        <p:spPr>
          <a:xfrm>
            <a:off x="8334375" y="4019550"/>
            <a:ext cx="333375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Holybro GPS M10</a:t>
            </a:r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88921BA9-352D-4B90-9280-0DF112817713}"/>
              </a:ext>
            </a:extLst>
          </p:cNvPr>
          <p:cNvSpPr>
            <a:spLocks noGrp="1"/>
          </p:cNvSpPr>
          <p:nvPr/>
        </p:nvSpPr>
        <p:spPr>
          <a:xfrm>
            <a:off x="8334375" y="4514850"/>
            <a:ext cx="333375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GPS-Modul für Pixhawk 6C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AF5919AB-0BAB-4EA7-A08F-CCD9A5922EB1}"/>
              </a:ext>
            </a:extLst>
          </p:cNvPr>
          <p:cNvSpPr>
            <a:spLocks noGrp="1"/>
          </p:cNvSpPr>
          <p:nvPr/>
        </p:nvSpPr>
        <p:spPr>
          <a:xfrm>
            <a:off x="619125" y="3857625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MATEKSYS H7A3-SLIM</a:t>
            </a:r>
          </a:p>
          <a:p>
            <a:pPr>
              <a:defRPr sz="2175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Flight Controller</a:t>
            </a:r>
          </a:p>
        </p:txBody>
      </p:sp>
    </p:spTree>
    <p:extLst>
      <p:ext uri="{BB962C8B-B14F-4D97-AF65-F5344CB8AC3E}">
        <p14:creationId xmlns:p14="http://schemas.microsoft.com/office/powerpoint/2010/main" val="204354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AD63AA10-4D6A-4EEC-9D66-A3C937FA70A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Antrieb: Thruster-Motoren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B55870DD-C389-482C-A0AA-730A539E0A1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5630D245-4A09-4B91-BFF4-50DBCC20837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09688" y="1333500"/>
            <a:ext cx="3810000" cy="3810000"/>
          </a:xfrm>
          <a:prstGeom prst="rect">
            <a:avLst/>
          </a:prstGeom>
        </p:spPr>
      </p:pic>
      <p:pic>
        <p:nvPicPr>
          <p:cNvPr id="11" name="Grafik 1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72313" y="1333500"/>
            <a:ext cx="3810000" cy="3810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469D1844-9C41-4A77-A698-4B12CAC87820}"/>
              </a:ext>
            </a:extLst>
          </p:cNvPr>
          <p:cNvSpPr>
            <a:spLocks noGrp="1"/>
          </p:cNvSpPr>
          <p:nvPr/>
        </p:nvSpPr>
        <p:spPr>
          <a:xfrm>
            <a:off x="952500" y="5400675"/>
            <a:ext cx="1028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20 A  ·  4-Blatt-Propeller  ·  CW / CCW</a:t>
            </a:r>
          </a:p>
        </p:txBody>
      </p:sp>
    </p:spTree>
    <p:extLst>
      <p:ext uri="{BB962C8B-B14F-4D97-AF65-F5344CB8AC3E}">
        <p14:creationId xmlns:p14="http://schemas.microsoft.com/office/powerpoint/2010/main" val="197517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>
            <a:extLst>
              <a:ext uri="{FF2B5EF4-FFF2-40B4-BE49-F238E27FC236}">
                <a16:creationId xmlns:a16="http://schemas.microsoft.com/office/drawing/2014/main" id="{44CF154B-DBFB-4AEF-A7C0-A50FC314DF8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Projektdokumentation im Repository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459082AC-373C-4044-8733-67F09898E305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4655D3F3-0373-4681-BD04-82075A0A0B2A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A7490420-9EEE-4EA2-9F5A-110D9DEE224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https://github.com/Joe-Grabow/USV</a:t>
            </a: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419540" y="2286000"/>
            <a:ext cx="5352920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828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F2D91280-41C2-4197-A615-AA2B3D45B8B0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972800" cy="742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150" b="1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Projektabschluss</a:t>
            </a:r>
          </a:p>
        </p:txBody>
      </p:sp>
      <p:sp>
        <p:nvSpPr>
          <p:cNvPr id="2" name="Rechteck 1">
            <a:extLst>
              <a:ext uri="{FF2B5EF4-FFF2-40B4-BE49-F238E27FC236}">
                <a16:creationId xmlns:a16="http://schemas.microsoft.com/office/drawing/2014/main" id="{6E88D1AD-B30A-460E-9203-D7E823DC3A42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572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EAH Jena  ·  Mechatronikprojekt 2026/27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8F686452-2125-4B3E-B5BE-39C1D471D14F}"/>
              </a:ext>
            </a:extLst>
          </p:cNvPr>
          <p:cNvSpPr>
            <a:spLocks noGrp="1"/>
          </p:cNvSpPr>
          <p:nvPr/>
        </p:nvSpPr>
        <p:spPr>
          <a:xfrm>
            <a:off x="11049000" y="64293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00" b="0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008B8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2D1A7F1-8189-47C4-B1FC-3590E9EC0996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858500" cy="7143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322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Projektpräsentation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7F6E826F-23E0-4D87-91B9-FAF0384AEF1A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0858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008B8C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8B8C"/>
                </a:solidFill>
                <a:latin typeface="Arial"/>
                <a:ea typeface="Arial"/>
                <a:cs typeface="Arial"/>
              </a:rPr>
              <a:t>26. März 2027</a:t>
            </a:r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BD70786B-3992-43CA-A547-7EC46C50B0D1}"/>
              </a:ext>
            </a:extLst>
          </p:cNvPr>
          <p:cNvSpPr>
            <a:spLocks noGrp="1"/>
          </p:cNvSpPr>
          <p:nvPr/>
        </p:nvSpPr>
        <p:spPr>
          <a:xfrm>
            <a:off x="609600" y="4524375"/>
            <a:ext cx="108585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0">
                <a:solidFill>
                  <a:srgbClr val="16334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344"/>
                </a:solidFill>
                <a:latin typeface="Arial"/>
                <a:ea typeface="Arial"/>
                <a:cs typeface="Arial"/>
              </a:rPr>
              <a:t>Starttermin: noch zu klären</a:t>
            </a:r>
          </a:p>
        </p:txBody>
      </p:sp>
    </p:spTree>
    <p:extLst>
      <p:ext uri="{BB962C8B-B14F-4D97-AF65-F5344CB8AC3E}">
        <p14:creationId xmlns:p14="http://schemas.microsoft.com/office/powerpoint/2010/main" val="160593481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</Words>
  <Application>Microsoft Office PowerPoint</Application>
  <DocSecurity>0</DocSecurity>
  <PresentationFormat>Breitbild</PresentationFormat>
  <Paragraphs>116</Paragraphs>
  <Slides>13</Slides>
  <Notes>13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6" baseType="lpstr">
      <vt:lpstr>Aptos</vt:lpstr>
      <vt:lpstr>Arial</vt:lpstr>
      <vt:lpstr>ChatGPT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Jörg Grabow</cp:lastModifiedBy>
  <cp:revision>1</cp:revision>
  <dcterms:created xsi:type="dcterms:W3CDTF">2026-10-02T09:25:43Z</dcterms:created>
  <dcterms:modified xsi:type="dcterms:W3CDTF">2026-10-02T09:34:52Z</dcterms:modified>
</cp:coreProperties>
</file>